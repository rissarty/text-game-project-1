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61" r:id="rId2"/>
    <p:sldId id="256" r:id="rId3"/>
    <p:sldId id="257" r:id="rId4"/>
    <p:sldId id="258" r:id="rId5"/>
    <p:sldId id="259" r:id="rId6"/>
    <p:sldId id="260" r:id="rId7"/>
    <p:sldId id="262" r:id="rId8"/>
    <p:sldId id="263" r:id="rId9"/>
    <p:sldId id="264" r:id="rId10"/>
    <p:sldId id="265" r:id="rId11"/>
    <p:sldId id="266" r:id="rId12"/>
  </p:sldIdLst>
  <p:sldSz cx="9144000" cy="5143500" type="screen16x9"/>
  <p:notesSz cx="6858000" cy="9144000"/>
  <p:embeddedFontLst>
    <p:embeddedFont>
      <p:font typeface="Georgia" panose="02040502050405020303"/>
      <p:regular r:id="rId14"/>
      <p:bold r:id="rId15"/>
      <p:italic r:id="rId16"/>
      <p:boldItalic r:id="rId17"/>
    </p:embeddedFont>
    <p:embeddedFont>
      <p:font typeface="Impact" panose="020B0806030902050204" pitchFamily="34" charset="0"/>
      <p:regular r:id="rId18"/>
    </p:embeddedFont>
    <p:embeddedFont>
      <p:font typeface="Oswald" panose="00000500000000000000"/>
      <p:regular r:id="rId19"/>
      <p:bold r:id="rId20"/>
    </p:embeddedFont>
    <p:embeddedFont>
      <p:font typeface="Oswald SemiBold" panose="00000700000000000000" pitchFamily="2"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4F62"/>
    <a:srgbClr val="175D73"/>
    <a:srgbClr val="1B6D87"/>
    <a:srgbClr val="2184A3"/>
    <a:srgbClr val="001364"/>
    <a:srgbClr val="001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p:scale>
          <a:sx n="89" d="100"/>
          <a:sy n="89" d="100"/>
        </p:scale>
        <p:origin x="1282" y="2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18" Type="http://schemas.openxmlformats.org/officeDocument/2006/relationships/font" Target="fonts/font5.fntdata"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font" Target="fonts/font8.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4.fntdata"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font" Target="fonts/font3.fntdata" /><Relationship Id="rId20" Type="http://schemas.openxmlformats.org/officeDocument/2006/relationships/font" Target="fonts/font7.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font" Target="fonts/font2.fntdata"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font" Target="fonts/font6.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1.fntdata" /><Relationship Id="rId22" Type="http://schemas.openxmlformats.org/officeDocument/2006/relationships/font" Target="fonts/font9.fntdata"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4T10:26:31.631"/>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4T10:26:31.631"/>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DEE915E-39DB-E8F2-6682-A26D19203AF0}"/>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6FFF1127-6739-6E3D-7C2E-99A2A31DF0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2F9DE40-B803-AF90-D20B-BC191DBBC0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8098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bead0144ae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bead0144ae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bead0144ae_1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bead0144ae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bead0144ae_1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bead0144ae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bead0144ae_1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ead0144ae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B1324D8F-85C8-EC81-DA2F-4D8C560EAE80}"/>
            </a:ext>
          </a:extLst>
        </p:cNvPr>
        <p:cNvGrpSpPr/>
        <p:nvPr/>
      </p:nvGrpSpPr>
      <p:grpSpPr>
        <a:xfrm>
          <a:off x="0" y="0"/>
          <a:ext cx="0" cy="0"/>
          <a:chOff x="0" y="0"/>
          <a:chExt cx="0" cy="0"/>
        </a:xfrm>
      </p:grpSpPr>
      <p:sp>
        <p:nvSpPr>
          <p:cNvPr id="119" name="Google Shape;119;g3bead0144ae_1_86:notes">
            <a:extLst>
              <a:ext uri="{FF2B5EF4-FFF2-40B4-BE49-F238E27FC236}">
                <a16:creationId xmlns:a16="http://schemas.microsoft.com/office/drawing/2014/main" id="{A7BB5DFB-0A6A-9F64-8A3D-C22D3F2BE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ead0144ae_1_86:notes">
            <a:extLst>
              <a:ext uri="{FF2B5EF4-FFF2-40B4-BE49-F238E27FC236}">
                <a16:creationId xmlns:a16="http://schemas.microsoft.com/office/drawing/2014/main" id="{4EF507B7-AB8B-193D-9114-01C28B9850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2433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F6CC4D56-3A6B-E979-3FBA-CE968C4A2CB8}"/>
            </a:ext>
          </a:extLst>
        </p:cNvPr>
        <p:cNvGrpSpPr/>
        <p:nvPr/>
      </p:nvGrpSpPr>
      <p:grpSpPr>
        <a:xfrm>
          <a:off x="0" y="0"/>
          <a:ext cx="0" cy="0"/>
          <a:chOff x="0" y="0"/>
          <a:chExt cx="0" cy="0"/>
        </a:xfrm>
      </p:grpSpPr>
      <p:sp>
        <p:nvSpPr>
          <p:cNvPr id="119" name="Google Shape;119;g3bead0144ae_1_86:notes">
            <a:extLst>
              <a:ext uri="{FF2B5EF4-FFF2-40B4-BE49-F238E27FC236}">
                <a16:creationId xmlns:a16="http://schemas.microsoft.com/office/drawing/2014/main" id="{E59DB6B2-23F6-6ACA-54C9-60439B0029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ead0144ae_1_86:notes">
            <a:extLst>
              <a:ext uri="{FF2B5EF4-FFF2-40B4-BE49-F238E27FC236}">
                <a16:creationId xmlns:a16="http://schemas.microsoft.com/office/drawing/2014/main" id="{42C02D81-CDB4-B543-4E46-90BED1EBD1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3400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C64FB758-D226-3096-B61C-32FBF4C4946E}"/>
            </a:ext>
          </a:extLst>
        </p:cNvPr>
        <p:cNvGrpSpPr/>
        <p:nvPr/>
      </p:nvGrpSpPr>
      <p:grpSpPr>
        <a:xfrm>
          <a:off x="0" y="0"/>
          <a:ext cx="0" cy="0"/>
          <a:chOff x="0" y="0"/>
          <a:chExt cx="0" cy="0"/>
        </a:xfrm>
      </p:grpSpPr>
      <p:sp>
        <p:nvSpPr>
          <p:cNvPr id="119" name="Google Shape;119;g3bead0144ae_1_86:notes">
            <a:extLst>
              <a:ext uri="{FF2B5EF4-FFF2-40B4-BE49-F238E27FC236}">
                <a16:creationId xmlns:a16="http://schemas.microsoft.com/office/drawing/2014/main" id="{63F719C5-C881-6E4C-AED7-2D4A757DC0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ead0144ae_1_86:notes">
            <a:extLst>
              <a:ext uri="{FF2B5EF4-FFF2-40B4-BE49-F238E27FC236}">
                <a16:creationId xmlns:a16="http://schemas.microsoft.com/office/drawing/2014/main" id="{D3C368D8-B64A-E49B-559E-FAC19BD8ED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1839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71363957-F73A-8072-144D-48C104CF9D58}"/>
            </a:ext>
          </a:extLst>
        </p:cNvPr>
        <p:cNvGrpSpPr/>
        <p:nvPr/>
      </p:nvGrpSpPr>
      <p:grpSpPr>
        <a:xfrm>
          <a:off x="0" y="0"/>
          <a:ext cx="0" cy="0"/>
          <a:chOff x="0" y="0"/>
          <a:chExt cx="0" cy="0"/>
        </a:xfrm>
      </p:grpSpPr>
      <p:sp>
        <p:nvSpPr>
          <p:cNvPr id="119" name="Google Shape;119;g3bead0144ae_1_86:notes">
            <a:extLst>
              <a:ext uri="{FF2B5EF4-FFF2-40B4-BE49-F238E27FC236}">
                <a16:creationId xmlns:a16="http://schemas.microsoft.com/office/drawing/2014/main" id="{F87B024D-508E-F4D3-0642-7CAC6DB655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ead0144ae_1_86:notes">
            <a:extLst>
              <a:ext uri="{FF2B5EF4-FFF2-40B4-BE49-F238E27FC236}">
                <a16:creationId xmlns:a16="http://schemas.microsoft.com/office/drawing/2014/main" id="{DA7E9EB4-1272-4A22-1299-B379BCE33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8454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EBF0CAD1-2840-9035-11C6-AF3CB681110E}"/>
            </a:ext>
          </a:extLst>
        </p:cNvPr>
        <p:cNvGrpSpPr/>
        <p:nvPr/>
      </p:nvGrpSpPr>
      <p:grpSpPr>
        <a:xfrm>
          <a:off x="0" y="0"/>
          <a:ext cx="0" cy="0"/>
          <a:chOff x="0" y="0"/>
          <a:chExt cx="0" cy="0"/>
        </a:xfrm>
      </p:grpSpPr>
      <p:sp>
        <p:nvSpPr>
          <p:cNvPr id="119" name="Google Shape;119;g3bead0144ae_1_86:notes">
            <a:extLst>
              <a:ext uri="{FF2B5EF4-FFF2-40B4-BE49-F238E27FC236}">
                <a16:creationId xmlns:a16="http://schemas.microsoft.com/office/drawing/2014/main" id="{D6518D1B-372C-26A4-1D67-902405FBA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ead0144ae_1_86:notes">
            <a:extLst>
              <a:ext uri="{FF2B5EF4-FFF2-40B4-BE49-F238E27FC236}">
                <a16:creationId xmlns:a16="http://schemas.microsoft.com/office/drawing/2014/main" id="{C6748E11-1B76-6304-356E-DA2BFAC5D5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9493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flip="none" rotWithShape="1">
          <a:gsLst>
            <a:gs pos="100000">
              <a:schemeClr val="accent1">
                <a:lumMod val="67000"/>
              </a:schemeClr>
            </a:gs>
            <a:gs pos="50000">
              <a:schemeClr val="accent1">
                <a:lumMod val="97000"/>
                <a:lumOff val="3000"/>
              </a:schemeClr>
            </a:gs>
            <a:gs pos="100000">
              <a:schemeClr val="accent1">
                <a:lumMod val="60000"/>
                <a:lumOff val="40000"/>
              </a:schemeClr>
            </a:gs>
          </a:gsLst>
          <a:lin ang="162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2.xml.rels><?xml version="1.0" encoding="UTF-8" standalone="yes"?>
<Relationships xmlns="http://schemas.openxmlformats.org/package/2006/relationships"><Relationship Id="rId3" Type="http://schemas.openxmlformats.org/officeDocument/2006/relationships/customXml" Target="../ink/ink2.xml"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image" Target="../media/image10.png" /></Relationships>
</file>

<file path=ppt/slides/_rels/slide3.xml.rels><?xml version="1.0" encoding="UTF-8" standalone="yes"?>
<Relationships xmlns="http://schemas.openxmlformats.org/package/2006/relationships"><Relationship Id="rId3" Type="http://schemas.openxmlformats.org/officeDocument/2006/relationships/image" Target="../media/image1.gif"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7.xml" /><Relationship Id="rId1" Type="http://schemas.openxmlformats.org/officeDocument/2006/relationships/slideLayout" Target="../slideLayouts/slideLayout1.xml" /><Relationship Id="rId4" Type="http://schemas.microsoft.com/office/2007/relationships/hdphoto" Target="../media/hdphoto1.wdp"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91D4281-A4CD-7B6D-2EF0-E80F229739DD}"/>
            </a:ext>
          </a:extLst>
        </p:cNvPr>
        <p:cNvGrpSpPr/>
        <p:nvPr/>
      </p:nvGrpSpPr>
      <p:grpSpPr>
        <a:xfrm>
          <a:off x="0" y="0"/>
          <a:ext cx="0" cy="0"/>
          <a:chOff x="0" y="0"/>
          <a:chExt cx="0" cy="0"/>
        </a:xfrm>
      </p:grpSpPr>
      <p:sp>
        <p:nvSpPr>
          <p:cNvPr id="17" name="Google Shape;58;p13">
            <a:extLst>
              <a:ext uri="{FF2B5EF4-FFF2-40B4-BE49-F238E27FC236}">
                <a16:creationId xmlns:a16="http://schemas.microsoft.com/office/drawing/2014/main" id="{73352021-D8B7-B3A3-DAF5-0CEF42D03143}"/>
              </a:ext>
            </a:extLst>
          </p:cNvPr>
          <p:cNvSpPr/>
          <p:nvPr/>
        </p:nvSpPr>
        <p:spPr>
          <a:xfrm>
            <a:off x="-52574" y="2104"/>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6" name="Google Shape;58;p13">
            <a:extLst>
              <a:ext uri="{FF2B5EF4-FFF2-40B4-BE49-F238E27FC236}">
                <a16:creationId xmlns:a16="http://schemas.microsoft.com/office/drawing/2014/main" id="{6816CAD8-5B82-BCA7-06F3-41B4BC01E94D}"/>
              </a:ext>
            </a:extLst>
          </p:cNvPr>
          <p:cNvSpPr/>
          <p:nvPr/>
        </p:nvSpPr>
        <p:spPr>
          <a:xfrm>
            <a:off x="-373041" y="-39768"/>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5" name="Google Shape;58;p13">
            <a:extLst>
              <a:ext uri="{FF2B5EF4-FFF2-40B4-BE49-F238E27FC236}">
                <a16:creationId xmlns:a16="http://schemas.microsoft.com/office/drawing/2014/main" id="{3B157410-2D33-65CE-C7DB-498D4456D86B}"/>
              </a:ext>
            </a:extLst>
          </p:cNvPr>
          <p:cNvSpPr/>
          <p:nvPr/>
        </p:nvSpPr>
        <p:spPr>
          <a:xfrm>
            <a:off x="-723868" y="-6778"/>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4" name="Google Shape;58;p13">
            <a:extLst>
              <a:ext uri="{FF2B5EF4-FFF2-40B4-BE49-F238E27FC236}">
                <a16:creationId xmlns:a16="http://schemas.microsoft.com/office/drawing/2014/main" id="{5C6A9415-1033-E3D2-0656-F3C0631ADD86}"/>
              </a:ext>
            </a:extLst>
          </p:cNvPr>
          <p:cNvSpPr/>
          <p:nvPr/>
        </p:nvSpPr>
        <p:spPr>
          <a:xfrm>
            <a:off x="-1044335" y="-16112"/>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3" name="Google Shape;58;p13">
            <a:extLst>
              <a:ext uri="{FF2B5EF4-FFF2-40B4-BE49-F238E27FC236}">
                <a16:creationId xmlns:a16="http://schemas.microsoft.com/office/drawing/2014/main" id="{72B63CFC-A140-567C-B7CD-5ACF8AAD9FF6}"/>
              </a:ext>
            </a:extLst>
          </p:cNvPr>
          <p:cNvSpPr/>
          <p:nvPr/>
        </p:nvSpPr>
        <p:spPr>
          <a:xfrm>
            <a:off x="-1278527" y="26212"/>
            <a:ext cx="5724300" cy="5143500"/>
          </a:xfrm>
          <a:prstGeom prst="ellipse">
            <a:avLst/>
          </a:prstGeom>
          <a:solidFill>
            <a:srgbClr val="00187E"/>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54" name="Google Shape;54;p13">
            <a:extLst>
              <a:ext uri="{FF2B5EF4-FFF2-40B4-BE49-F238E27FC236}">
                <a16:creationId xmlns:a16="http://schemas.microsoft.com/office/drawing/2014/main" id="{54FF16D5-75BE-72A9-026E-E2318AA1AA8C}"/>
              </a:ext>
            </a:extLst>
          </p:cNvPr>
          <p:cNvSpPr/>
          <p:nvPr/>
        </p:nvSpPr>
        <p:spPr>
          <a:xfrm>
            <a:off x="-1514159" y="26212"/>
            <a:ext cx="5724300" cy="5143500"/>
          </a:xfrm>
          <a:prstGeom prst="ellipse">
            <a:avLst/>
          </a:prstGeom>
          <a:solidFill>
            <a:srgbClr val="07376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5" name="Google Shape;55;p13">
            <a:extLst>
              <a:ext uri="{FF2B5EF4-FFF2-40B4-BE49-F238E27FC236}">
                <a16:creationId xmlns:a16="http://schemas.microsoft.com/office/drawing/2014/main" id="{652D6AB2-E82A-5D42-6EBA-5E6DB585C03C}"/>
              </a:ext>
            </a:extLst>
          </p:cNvPr>
          <p:cNvSpPr/>
          <p:nvPr/>
        </p:nvSpPr>
        <p:spPr>
          <a:xfrm>
            <a:off x="-1774753" y="-49102"/>
            <a:ext cx="5724300" cy="5143500"/>
          </a:xfrm>
          <a:prstGeom prst="ellipse">
            <a:avLst/>
          </a:prstGeom>
          <a:solidFill>
            <a:srgbClr val="0B539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6" name="Google Shape;56;p13">
            <a:extLst>
              <a:ext uri="{FF2B5EF4-FFF2-40B4-BE49-F238E27FC236}">
                <a16:creationId xmlns:a16="http://schemas.microsoft.com/office/drawing/2014/main" id="{49CFCA65-22F6-B237-0138-4AF22B234569}"/>
              </a:ext>
            </a:extLst>
          </p:cNvPr>
          <p:cNvSpPr/>
          <p:nvPr/>
        </p:nvSpPr>
        <p:spPr>
          <a:xfrm>
            <a:off x="-1983983" y="-21775"/>
            <a:ext cx="5724300" cy="5143500"/>
          </a:xfrm>
          <a:prstGeom prst="ellipse">
            <a:avLst/>
          </a:prstGeom>
          <a:solidFill>
            <a:srgbClr val="3D85C6"/>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7" name="Google Shape;57;p13">
            <a:extLst>
              <a:ext uri="{FF2B5EF4-FFF2-40B4-BE49-F238E27FC236}">
                <a16:creationId xmlns:a16="http://schemas.microsoft.com/office/drawing/2014/main" id="{3A555CD8-D814-1422-F0D2-A0AB00258361}"/>
              </a:ext>
            </a:extLst>
          </p:cNvPr>
          <p:cNvSpPr/>
          <p:nvPr/>
        </p:nvSpPr>
        <p:spPr>
          <a:xfrm>
            <a:off x="-2120733" y="-21775"/>
            <a:ext cx="5724300" cy="5143500"/>
          </a:xfrm>
          <a:prstGeom prst="ellipse">
            <a:avLst/>
          </a:prstGeom>
          <a:solidFill>
            <a:srgbClr val="6FA8DC"/>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8" name="Google Shape;58;p13">
            <a:extLst>
              <a:ext uri="{FF2B5EF4-FFF2-40B4-BE49-F238E27FC236}">
                <a16:creationId xmlns:a16="http://schemas.microsoft.com/office/drawing/2014/main" id="{D9E37F37-A7A5-1F9C-515D-12122846D894}"/>
              </a:ext>
            </a:extLst>
          </p:cNvPr>
          <p:cNvSpPr/>
          <p:nvPr/>
        </p:nvSpPr>
        <p:spPr>
          <a:xfrm>
            <a:off x="-2304450" y="-10450"/>
            <a:ext cx="5724300" cy="5143500"/>
          </a:xfrm>
          <a:prstGeom prst="ellipse">
            <a:avLst/>
          </a:prstGeom>
          <a:solidFill>
            <a:srgbClr val="9FC5E8"/>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C2CD478-9611-ED14-10AE-7DEFBD79BF2D}"/>
                  </a:ext>
                </a:extLst>
              </p14:cNvPr>
              <p14:cNvContentPartPr/>
              <p14:nvPr/>
            </p14:nvContentPartPr>
            <p14:xfrm>
              <a:off x="4571820" y="-99780"/>
              <a:ext cx="360" cy="360"/>
            </p14:xfrm>
          </p:contentPart>
        </mc:Choice>
        <mc:Fallback xmlns="">
          <p:pic>
            <p:nvPicPr>
              <p:cNvPr id="2" name="Ink 1">
                <a:extLst>
                  <a:ext uri="{FF2B5EF4-FFF2-40B4-BE49-F238E27FC236}">
                    <a16:creationId xmlns:a16="http://schemas.microsoft.com/office/drawing/2014/main" id="{0C2CD478-9611-ED14-10AE-7DEFBD79BF2D}"/>
                  </a:ext>
                </a:extLst>
              </p:cNvPr>
              <p:cNvPicPr/>
              <p:nvPr/>
            </p:nvPicPr>
            <p:blipFill>
              <a:blip r:embed="rId4"/>
              <a:stretch>
                <a:fillRect/>
              </a:stretch>
            </p:blipFill>
            <p:spPr>
              <a:xfrm>
                <a:off x="4565700" y="-105900"/>
                <a:ext cx="12600" cy="12600"/>
              </a:xfrm>
              <a:prstGeom prst="rect">
                <a:avLst/>
              </a:prstGeom>
            </p:spPr>
          </p:pic>
        </mc:Fallback>
      </mc:AlternateContent>
      <p:sp>
        <p:nvSpPr>
          <p:cNvPr id="4" name="Google Shape;59;p13">
            <a:extLst>
              <a:ext uri="{FF2B5EF4-FFF2-40B4-BE49-F238E27FC236}">
                <a16:creationId xmlns:a16="http://schemas.microsoft.com/office/drawing/2014/main" id="{D635DD12-F213-C6BB-56E6-675C3947B042}"/>
              </a:ext>
            </a:extLst>
          </p:cNvPr>
          <p:cNvSpPr txBox="1"/>
          <p:nvPr/>
        </p:nvSpPr>
        <p:spPr>
          <a:xfrm>
            <a:off x="120009" y="1213446"/>
            <a:ext cx="3420000" cy="988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dirty="0">
                <a:latin typeface="Oswald SemiBold"/>
                <a:ea typeface="Oswald SemiBold"/>
                <a:cs typeface="Oswald SemiBold"/>
                <a:sym typeface="Oswald SemiBold"/>
              </a:rPr>
              <a:t>DOUBLY LINKED LISTS:</a:t>
            </a:r>
            <a:br>
              <a:rPr lang="en" sz="1800" dirty="0">
                <a:latin typeface="Oswald SemiBold"/>
                <a:ea typeface="Oswald SemiBold"/>
                <a:cs typeface="Oswald SemiBold"/>
                <a:sym typeface="Oswald SemiBold"/>
              </a:rPr>
            </a:br>
            <a:r>
              <a:rPr lang="en" sz="1800" dirty="0">
                <a:latin typeface="Oswald SemiBold"/>
                <a:ea typeface="Oswald SemiBold"/>
                <a:cs typeface="Oswald SemiBold"/>
                <a:sym typeface="Oswald SemiBold"/>
              </a:rPr>
              <a:t>AND ADVANTAGES OVER SINGLY LINKED LISTS.</a:t>
            </a:r>
            <a:endParaRPr sz="1800" dirty="0">
              <a:latin typeface="Oswald SemiBold"/>
              <a:ea typeface="Oswald SemiBold"/>
              <a:cs typeface="Oswald SemiBold"/>
              <a:sym typeface="Oswald SemiBold"/>
            </a:endParaRPr>
          </a:p>
        </p:txBody>
      </p:sp>
      <p:sp>
        <p:nvSpPr>
          <p:cNvPr id="5" name="Google Shape;60;p13">
            <a:extLst>
              <a:ext uri="{FF2B5EF4-FFF2-40B4-BE49-F238E27FC236}">
                <a16:creationId xmlns:a16="http://schemas.microsoft.com/office/drawing/2014/main" id="{5D7F3738-DAF3-4FDE-6B75-787B7CBA0AE4}"/>
              </a:ext>
            </a:extLst>
          </p:cNvPr>
          <p:cNvSpPr txBox="1"/>
          <p:nvPr/>
        </p:nvSpPr>
        <p:spPr>
          <a:xfrm>
            <a:off x="120009" y="2297346"/>
            <a:ext cx="3420000" cy="456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u="sng">
                <a:latin typeface="Oswald SemiBold"/>
                <a:ea typeface="Oswald SemiBold"/>
                <a:cs typeface="Oswald SemiBold"/>
                <a:sym typeface="Oswald SemiBold"/>
              </a:rPr>
              <a:t>PRESENTED BY: </a:t>
            </a:r>
            <a:br>
              <a:rPr lang="en" sz="1800" u="sng">
                <a:latin typeface="Oswald SemiBold"/>
                <a:ea typeface="Oswald SemiBold"/>
                <a:cs typeface="Oswald SemiBold"/>
                <a:sym typeface="Oswald SemiBold"/>
              </a:rPr>
            </a:br>
            <a:r>
              <a:rPr lang="en" sz="1800" u="sng">
                <a:latin typeface="Oswald SemiBold"/>
                <a:ea typeface="Oswald SemiBold"/>
                <a:cs typeface="Oswald SemiBold"/>
                <a:sym typeface="Oswald SemiBold"/>
              </a:rPr>
              <a:t>RISHABH SINGH, DAKSH PARAB </a:t>
            </a:r>
            <a:endParaRPr sz="1800" u="sng">
              <a:latin typeface="Oswald SemiBold"/>
              <a:ea typeface="Oswald SemiBold"/>
              <a:cs typeface="Oswald SemiBold"/>
              <a:sym typeface="Oswald SemiBold"/>
            </a:endParaRPr>
          </a:p>
        </p:txBody>
      </p:sp>
      <p:sp>
        <p:nvSpPr>
          <p:cNvPr id="7" name="Google Shape;61;p13">
            <a:extLst>
              <a:ext uri="{FF2B5EF4-FFF2-40B4-BE49-F238E27FC236}">
                <a16:creationId xmlns:a16="http://schemas.microsoft.com/office/drawing/2014/main" id="{174A287C-3EEB-E077-296C-CAB00BDBDEF0}"/>
              </a:ext>
            </a:extLst>
          </p:cNvPr>
          <p:cNvSpPr txBox="1"/>
          <p:nvPr/>
        </p:nvSpPr>
        <p:spPr>
          <a:xfrm>
            <a:off x="120009" y="3019946"/>
            <a:ext cx="2369100" cy="456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dirty="0">
                <a:latin typeface="Oswald"/>
                <a:ea typeface="Oswald"/>
                <a:cs typeface="Oswald"/>
                <a:sym typeface="Oswald"/>
              </a:rPr>
              <a:t>DSA, BCA 2ND SEM, E1</a:t>
            </a:r>
            <a:endParaRPr sz="1800" b="1" dirty="0">
              <a:latin typeface="Oswald"/>
              <a:ea typeface="Oswald"/>
              <a:cs typeface="Oswald"/>
              <a:sym typeface="Oswald"/>
            </a:endParaRPr>
          </a:p>
        </p:txBody>
      </p:sp>
      <p:sp>
        <p:nvSpPr>
          <p:cNvPr id="8" name="Google Shape;62;p13">
            <a:extLst>
              <a:ext uri="{FF2B5EF4-FFF2-40B4-BE49-F238E27FC236}">
                <a16:creationId xmlns:a16="http://schemas.microsoft.com/office/drawing/2014/main" id="{F7318190-DB25-871C-CEF2-1E767BCE0500}"/>
              </a:ext>
            </a:extLst>
          </p:cNvPr>
          <p:cNvSpPr txBox="1"/>
          <p:nvPr/>
        </p:nvSpPr>
        <p:spPr>
          <a:xfrm>
            <a:off x="1583623" y="443471"/>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latin typeface="Impact"/>
                <a:ea typeface="Impact"/>
                <a:cs typeface="Impact"/>
                <a:sym typeface="Impact"/>
              </a:rPr>
              <a:t>01.</a:t>
            </a:r>
            <a:endParaRPr sz="2700" b="1" dirty="0">
              <a:latin typeface="Impact"/>
              <a:ea typeface="Impact"/>
              <a:cs typeface="Impact"/>
              <a:sym typeface="Impact"/>
            </a:endParaRPr>
          </a:p>
        </p:txBody>
      </p:sp>
      <p:sp>
        <p:nvSpPr>
          <p:cNvPr id="9" name="Google Shape;63;p13">
            <a:extLst>
              <a:ext uri="{FF2B5EF4-FFF2-40B4-BE49-F238E27FC236}">
                <a16:creationId xmlns:a16="http://schemas.microsoft.com/office/drawing/2014/main" id="{95D84EF3-A654-A69E-9BAB-26A35C8CA42F}"/>
              </a:ext>
            </a:extLst>
          </p:cNvPr>
          <p:cNvSpPr txBox="1"/>
          <p:nvPr/>
        </p:nvSpPr>
        <p:spPr>
          <a:xfrm>
            <a:off x="1570127" y="443844"/>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latin typeface="Impact"/>
                <a:ea typeface="Impact"/>
                <a:cs typeface="Impact"/>
                <a:sym typeface="Impact"/>
              </a:rPr>
              <a:t>02.</a:t>
            </a:r>
            <a:endParaRPr sz="2700" b="1" dirty="0">
              <a:latin typeface="Impact"/>
              <a:ea typeface="Impact"/>
              <a:cs typeface="Impact"/>
              <a:sym typeface="Impact"/>
            </a:endParaRPr>
          </a:p>
        </p:txBody>
      </p:sp>
      <p:sp>
        <p:nvSpPr>
          <p:cNvPr id="10" name="Google Shape;64;p13">
            <a:extLst>
              <a:ext uri="{FF2B5EF4-FFF2-40B4-BE49-F238E27FC236}">
                <a16:creationId xmlns:a16="http://schemas.microsoft.com/office/drawing/2014/main" id="{46D32A7A-06B1-A27D-AD01-991B8C070448}"/>
              </a:ext>
            </a:extLst>
          </p:cNvPr>
          <p:cNvSpPr txBox="1"/>
          <p:nvPr/>
        </p:nvSpPr>
        <p:spPr>
          <a:xfrm>
            <a:off x="1564389" y="454796"/>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solidFill>
                  <a:schemeClr val="tx1">
                    <a:lumMod val="85000"/>
                    <a:lumOff val="15000"/>
                  </a:schemeClr>
                </a:solidFill>
                <a:latin typeface="Impact"/>
                <a:ea typeface="Impact"/>
                <a:cs typeface="Impact"/>
                <a:sym typeface="Impact"/>
              </a:rPr>
              <a:t>03</a:t>
            </a:r>
            <a:r>
              <a:rPr lang="en" sz="2700" b="1" dirty="0">
                <a:latin typeface="Impact"/>
                <a:ea typeface="Impact"/>
                <a:cs typeface="Impact"/>
                <a:sym typeface="Impact"/>
              </a:rPr>
              <a:t>.</a:t>
            </a:r>
            <a:endParaRPr sz="2700" b="1" dirty="0">
              <a:latin typeface="Impact"/>
              <a:ea typeface="Impact"/>
              <a:cs typeface="Impact"/>
              <a:sym typeface="Impact"/>
            </a:endParaRPr>
          </a:p>
        </p:txBody>
      </p:sp>
      <p:sp>
        <p:nvSpPr>
          <p:cNvPr id="13" name="TextBox 12">
            <a:extLst>
              <a:ext uri="{FF2B5EF4-FFF2-40B4-BE49-F238E27FC236}">
                <a16:creationId xmlns:a16="http://schemas.microsoft.com/office/drawing/2014/main" id="{23942259-5D81-A4FB-0926-341F31378FAE}"/>
              </a:ext>
            </a:extLst>
          </p:cNvPr>
          <p:cNvSpPr txBox="1"/>
          <p:nvPr/>
        </p:nvSpPr>
        <p:spPr>
          <a:xfrm>
            <a:off x="1570127" y="522327"/>
            <a:ext cx="7131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
        <p:nvSpPr>
          <p:cNvPr id="12" name="Google Shape;66;p13">
            <a:extLst>
              <a:ext uri="{FF2B5EF4-FFF2-40B4-BE49-F238E27FC236}">
                <a16:creationId xmlns:a16="http://schemas.microsoft.com/office/drawing/2014/main" id="{C9EC1E4F-1067-446C-00F2-A64312600954}"/>
              </a:ext>
            </a:extLst>
          </p:cNvPr>
          <p:cNvSpPr txBox="1"/>
          <p:nvPr/>
        </p:nvSpPr>
        <p:spPr>
          <a:xfrm>
            <a:off x="1583623" y="454796"/>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solidFill>
                  <a:schemeClr val="bg1"/>
                </a:solidFill>
                <a:latin typeface="Impact"/>
                <a:ea typeface="Impact"/>
                <a:cs typeface="Impact"/>
                <a:sym typeface="Impact"/>
              </a:rPr>
              <a:t>05.</a:t>
            </a:r>
            <a:endParaRPr sz="2700" b="1" dirty="0">
              <a:solidFill>
                <a:schemeClr val="bg1"/>
              </a:solidFill>
              <a:latin typeface="Impact"/>
              <a:ea typeface="Impact"/>
              <a:cs typeface="Impact"/>
              <a:sym typeface="Impact"/>
            </a:endParaRPr>
          </a:p>
        </p:txBody>
      </p:sp>
      <p:sp>
        <p:nvSpPr>
          <p:cNvPr id="11" name="Google Shape;65;p13">
            <a:extLst>
              <a:ext uri="{FF2B5EF4-FFF2-40B4-BE49-F238E27FC236}">
                <a16:creationId xmlns:a16="http://schemas.microsoft.com/office/drawing/2014/main" id="{6C981C75-FEE1-FDB2-D587-93B8CBF63AAC}"/>
              </a:ext>
            </a:extLst>
          </p:cNvPr>
          <p:cNvSpPr txBox="1"/>
          <p:nvPr/>
        </p:nvSpPr>
        <p:spPr>
          <a:xfrm>
            <a:off x="1556631" y="443471"/>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solidFill>
                  <a:schemeClr val="bg1">
                    <a:lumMod val="85000"/>
                  </a:schemeClr>
                </a:solidFill>
                <a:latin typeface="Impact"/>
                <a:ea typeface="Impact"/>
                <a:cs typeface="Impact"/>
                <a:sym typeface="Impact"/>
              </a:rPr>
              <a:t>04.</a:t>
            </a:r>
            <a:endParaRPr sz="2700" b="1" dirty="0">
              <a:solidFill>
                <a:schemeClr val="bg1">
                  <a:lumMod val="85000"/>
                </a:schemeClr>
              </a:solidFill>
              <a:latin typeface="Impact"/>
              <a:ea typeface="Impact"/>
              <a:cs typeface="Impact"/>
              <a:sym typeface="Impact"/>
            </a:endParaRPr>
          </a:p>
        </p:txBody>
      </p:sp>
    </p:spTree>
    <p:extLst>
      <p:ext uri="{BB962C8B-B14F-4D97-AF65-F5344CB8AC3E}">
        <p14:creationId xmlns:p14="http://schemas.microsoft.com/office/powerpoint/2010/main" val="3804081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advTm="100">
        <p159:morph option="byObject"/>
      </p:transition>
    </mc:Choice>
    <mc:Fallback xmlns="">
      <p:transition spd="slow" advTm="1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16" name="Google Shape;58;p13">
            <a:extLst>
              <a:ext uri="{FF2B5EF4-FFF2-40B4-BE49-F238E27FC236}">
                <a16:creationId xmlns:a16="http://schemas.microsoft.com/office/drawing/2014/main" id="{51BB0C5E-2944-75DD-037C-05D4580EA208}"/>
              </a:ext>
            </a:extLst>
          </p:cNvPr>
          <p:cNvSpPr/>
          <p:nvPr/>
        </p:nvSpPr>
        <p:spPr>
          <a:xfrm>
            <a:off x="4859494" y="-5812"/>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5" name="Google Shape;58;p13">
            <a:extLst>
              <a:ext uri="{FF2B5EF4-FFF2-40B4-BE49-F238E27FC236}">
                <a16:creationId xmlns:a16="http://schemas.microsoft.com/office/drawing/2014/main" id="{06E7224C-666D-C1D9-1DCC-53C7E33D3195}"/>
              </a:ext>
            </a:extLst>
          </p:cNvPr>
          <p:cNvSpPr/>
          <p:nvPr/>
        </p:nvSpPr>
        <p:spPr>
          <a:xfrm>
            <a:off x="4661759" y="-2906"/>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4" name="Google Shape;58;p13">
            <a:extLst>
              <a:ext uri="{FF2B5EF4-FFF2-40B4-BE49-F238E27FC236}">
                <a16:creationId xmlns:a16="http://schemas.microsoft.com/office/drawing/2014/main" id="{6E1A64F5-53B6-D019-DBD5-1B74B188232B}"/>
              </a:ext>
            </a:extLst>
          </p:cNvPr>
          <p:cNvSpPr/>
          <p:nvPr/>
        </p:nvSpPr>
        <p:spPr>
          <a:xfrm>
            <a:off x="4451375" y="0"/>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3" name="Google Shape;58;p13">
            <a:extLst>
              <a:ext uri="{FF2B5EF4-FFF2-40B4-BE49-F238E27FC236}">
                <a16:creationId xmlns:a16="http://schemas.microsoft.com/office/drawing/2014/main" id="{8667E6F6-9EC7-C2CB-EE58-9141A1618BC7}"/>
              </a:ext>
            </a:extLst>
          </p:cNvPr>
          <p:cNvSpPr/>
          <p:nvPr/>
        </p:nvSpPr>
        <p:spPr>
          <a:xfrm>
            <a:off x="4253640" y="0"/>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37712D67-9187-B36D-C5A1-C41F49D4F3C9}"/>
              </a:ext>
            </a:extLst>
          </p:cNvPr>
          <p:cNvSpPr/>
          <p:nvPr/>
        </p:nvSpPr>
        <p:spPr>
          <a:xfrm>
            <a:off x="3941782" y="0"/>
            <a:ext cx="5724300" cy="5143500"/>
          </a:xfrm>
          <a:prstGeom prst="ellipse">
            <a:avLst/>
          </a:prstGeom>
          <a:solidFill>
            <a:srgbClr val="00187E"/>
          </a:solidFill>
          <a:ln>
            <a:noFill/>
          </a:ln>
        </p:spPr>
        <p:txBody>
          <a:bodyPr spcFirstLastPara="1" wrap="square" lIns="91425" tIns="91425" rIns="91425" bIns="91425" anchor="ctr" anchorCtr="0">
            <a:noAutofit/>
          </a:bodyPr>
          <a:lstStyle/>
          <a:p>
            <a:pPr lvl="0"/>
            <a:r>
              <a:rPr lang="en" b="1">
                <a:solidFill>
                  <a:schemeClr val="bg1"/>
                </a:solidFill>
                <a:latin typeface="Impact"/>
                <a:ea typeface="Impact"/>
                <a:cs typeface="Impact"/>
                <a:sym typeface="Impact"/>
              </a:rPr>
              <a:t>05.</a:t>
            </a:r>
            <a:endParaRPr lang="en" b="1" dirty="0">
              <a:solidFill>
                <a:schemeClr val="bg1"/>
              </a:solidFill>
              <a:latin typeface="Impact"/>
              <a:ea typeface="Impact"/>
              <a:cs typeface="Impact"/>
              <a:sym typeface="Impact"/>
            </a:endParaRPr>
          </a:p>
        </p:txBody>
      </p:sp>
      <p:sp>
        <p:nvSpPr>
          <p:cNvPr id="54" name="Google Shape;54;p13"/>
          <p:cNvSpPr/>
          <p:nvPr/>
        </p:nvSpPr>
        <p:spPr>
          <a:xfrm>
            <a:off x="3049994" y="0"/>
            <a:ext cx="5724300" cy="5143500"/>
          </a:xfrm>
          <a:prstGeom prst="ellipse">
            <a:avLst/>
          </a:prstGeom>
          <a:solidFill>
            <a:srgbClr val="07376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5" name="Google Shape;55;p13"/>
          <p:cNvSpPr/>
          <p:nvPr/>
        </p:nvSpPr>
        <p:spPr>
          <a:xfrm>
            <a:off x="1709850" y="0"/>
            <a:ext cx="5724300" cy="5143500"/>
          </a:xfrm>
          <a:prstGeom prst="ellipse">
            <a:avLst/>
          </a:prstGeom>
          <a:solidFill>
            <a:srgbClr val="0B539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6" name="Google Shape;56;p13"/>
          <p:cNvSpPr/>
          <p:nvPr/>
        </p:nvSpPr>
        <p:spPr>
          <a:xfrm>
            <a:off x="563063" y="0"/>
            <a:ext cx="5724300" cy="5143500"/>
          </a:xfrm>
          <a:prstGeom prst="ellipse">
            <a:avLst/>
          </a:prstGeom>
          <a:solidFill>
            <a:srgbClr val="3D85C6"/>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7" name="Google Shape;57;p13"/>
          <p:cNvSpPr/>
          <p:nvPr/>
        </p:nvSpPr>
        <p:spPr>
          <a:xfrm>
            <a:off x="-624975" y="0"/>
            <a:ext cx="5724300" cy="5143500"/>
          </a:xfrm>
          <a:prstGeom prst="ellipse">
            <a:avLst/>
          </a:prstGeom>
          <a:solidFill>
            <a:srgbClr val="6FA8DC"/>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8" name="Google Shape;58;p13"/>
          <p:cNvSpPr/>
          <p:nvPr/>
        </p:nvSpPr>
        <p:spPr>
          <a:xfrm>
            <a:off x="-1789494" y="0"/>
            <a:ext cx="5724300" cy="5143500"/>
          </a:xfrm>
          <a:prstGeom prst="ellipse">
            <a:avLst/>
          </a:prstGeom>
          <a:solidFill>
            <a:srgbClr val="9FC5E8"/>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p>
        </p:txBody>
      </p:sp>
      <p:sp>
        <p:nvSpPr>
          <p:cNvPr id="59" name="Google Shape;59;p13"/>
          <p:cNvSpPr txBox="1"/>
          <p:nvPr/>
        </p:nvSpPr>
        <p:spPr>
          <a:xfrm>
            <a:off x="164325" y="1167450"/>
            <a:ext cx="3420000" cy="988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dirty="0">
                <a:latin typeface="Oswald SemiBold"/>
                <a:ea typeface="Oswald SemiBold"/>
                <a:cs typeface="Oswald SemiBold"/>
                <a:sym typeface="Oswald SemiBold"/>
              </a:rPr>
              <a:t>DOUBLY LINKED LISTS:</a:t>
            </a:r>
            <a:br>
              <a:rPr lang="en" sz="1800" dirty="0">
                <a:latin typeface="Oswald SemiBold"/>
                <a:ea typeface="Oswald SemiBold"/>
                <a:cs typeface="Oswald SemiBold"/>
                <a:sym typeface="Oswald SemiBold"/>
              </a:rPr>
            </a:br>
            <a:r>
              <a:rPr lang="en" sz="1800" dirty="0">
                <a:latin typeface="Oswald SemiBold"/>
                <a:ea typeface="Oswald SemiBold"/>
                <a:cs typeface="Oswald SemiBold"/>
                <a:sym typeface="Oswald SemiBold"/>
              </a:rPr>
              <a:t>AND ADVANTAGES OVER SINGLY LINKED LISTS.</a:t>
            </a:r>
            <a:endParaRPr sz="1800" dirty="0">
              <a:latin typeface="Oswald SemiBold"/>
              <a:ea typeface="Oswald SemiBold"/>
              <a:cs typeface="Oswald SemiBold"/>
              <a:sym typeface="Oswald SemiBold"/>
            </a:endParaRPr>
          </a:p>
        </p:txBody>
      </p:sp>
      <p:sp>
        <p:nvSpPr>
          <p:cNvPr id="60" name="Google Shape;60;p13"/>
          <p:cNvSpPr txBox="1"/>
          <p:nvPr/>
        </p:nvSpPr>
        <p:spPr>
          <a:xfrm>
            <a:off x="164325" y="2251350"/>
            <a:ext cx="3420000" cy="456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u="sng">
                <a:latin typeface="Oswald SemiBold"/>
                <a:ea typeface="Oswald SemiBold"/>
                <a:cs typeface="Oswald SemiBold"/>
                <a:sym typeface="Oswald SemiBold"/>
              </a:rPr>
              <a:t>PRESENTED BY: </a:t>
            </a:r>
            <a:br>
              <a:rPr lang="en" sz="1800" u="sng">
                <a:latin typeface="Oswald SemiBold"/>
                <a:ea typeface="Oswald SemiBold"/>
                <a:cs typeface="Oswald SemiBold"/>
                <a:sym typeface="Oswald SemiBold"/>
              </a:rPr>
            </a:br>
            <a:r>
              <a:rPr lang="en" sz="1800" u="sng">
                <a:latin typeface="Oswald SemiBold"/>
                <a:ea typeface="Oswald SemiBold"/>
                <a:cs typeface="Oswald SemiBold"/>
                <a:sym typeface="Oswald SemiBold"/>
              </a:rPr>
              <a:t>RISHABH SINGH, DAKSH PARAB </a:t>
            </a:r>
            <a:endParaRPr sz="1800" u="sng">
              <a:latin typeface="Oswald SemiBold"/>
              <a:ea typeface="Oswald SemiBold"/>
              <a:cs typeface="Oswald SemiBold"/>
              <a:sym typeface="Oswald SemiBold"/>
            </a:endParaRPr>
          </a:p>
        </p:txBody>
      </p:sp>
      <p:sp>
        <p:nvSpPr>
          <p:cNvPr id="61" name="Google Shape;61;p13"/>
          <p:cNvSpPr txBox="1"/>
          <p:nvPr/>
        </p:nvSpPr>
        <p:spPr>
          <a:xfrm>
            <a:off x="164325" y="2973950"/>
            <a:ext cx="2369100" cy="456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dirty="0">
                <a:latin typeface="Oswald"/>
                <a:ea typeface="Oswald"/>
                <a:cs typeface="Oswald"/>
                <a:sym typeface="Oswald"/>
              </a:rPr>
              <a:t>DSA, BCA 2ND SEM, E1</a:t>
            </a:r>
            <a:endParaRPr sz="1800" b="1" dirty="0">
              <a:latin typeface="Oswald"/>
              <a:ea typeface="Oswald"/>
              <a:cs typeface="Oswald"/>
              <a:sym typeface="Oswald"/>
            </a:endParaRPr>
          </a:p>
        </p:txBody>
      </p:sp>
      <p:sp>
        <p:nvSpPr>
          <p:cNvPr id="62" name="Google Shape;62;p13"/>
          <p:cNvSpPr txBox="1"/>
          <p:nvPr/>
        </p:nvSpPr>
        <p:spPr>
          <a:xfrm>
            <a:off x="2141075" y="526725"/>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a:latin typeface="Impact"/>
                <a:ea typeface="Impact"/>
                <a:cs typeface="Impact"/>
                <a:sym typeface="Impact"/>
              </a:rPr>
              <a:t>01.</a:t>
            </a:r>
            <a:endParaRPr sz="2700" b="1">
              <a:latin typeface="Impact"/>
              <a:ea typeface="Impact"/>
              <a:cs typeface="Impact"/>
              <a:sym typeface="Impact"/>
            </a:endParaRPr>
          </a:p>
        </p:txBody>
      </p:sp>
      <p:sp>
        <p:nvSpPr>
          <p:cNvPr id="63" name="Google Shape;63;p13"/>
          <p:cNvSpPr txBox="1"/>
          <p:nvPr/>
        </p:nvSpPr>
        <p:spPr>
          <a:xfrm>
            <a:off x="3636801" y="561870"/>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a:latin typeface="Impact"/>
                <a:ea typeface="Impact"/>
                <a:cs typeface="Impact"/>
                <a:sym typeface="Impact"/>
              </a:rPr>
              <a:t>02.</a:t>
            </a:r>
            <a:endParaRPr sz="2700" b="1">
              <a:latin typeface="Impact"/>
              <a:ea typeface="Impact"/>
              <a:cs typeface="Impact"/>
              <a:sym typeface="Impact"/>
            </a:endParaRPr>
          </a:p>
        </p:txBody>
      </p:sp>
      <p:sp>
        <p:nvSpPr>
          <p:cNvPr id="64" name="Google Shape;64;p13"/>
          <p:cNvSpPr txBox="1"/>
          <p:nvPr/>
        </p:nvSpPr>
        <p:spPr>
          <a:xfrm>
            <a:off x="4712151" y="588829"/>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solidFill>
                  <a:schemeClr val="tx1">
                    <a:lumMod val="85000"/>
                    <a:lumOff val="15000"/>
                  </a:schemeClr>
                </a:solidFill>
                <a:latin typeface="Impact"/>
                <a:ea typeface="Impact"/>
                <a:cs typeface="Impact"/>
                <a:sym typeface="Impact"/>
              </a:rPr>
              <a:t>03</a:t>
            </a:r>
            <a:r>
              <a:rPr lang="en" sz="2700" b="1" dirty="0">
                <a:latin typeface="Impact"/>
                <a:ea typeface="Impact"/>
                <a:cs typeface="Impact"/>
                <a:sym typeface="Impact"/>
              </a:rPr>
              <a:t>.</a:t>
            </a:r>
            <a:endParaRPr sz="2700" b="1" dirty="0">
              <a:latin typeface="Impact"/>
              <a:ea typeface="Impact"/>
              <a:cs typeface="Impact"/>
              <a:sym typeface="Impact"/>
            </a:endParaRPr>
          </a:p>
        </p:txBody>
      </p:sp>
      <p:sp>
        <p:nvSpPr>
          <p:cNvPr id="65" name="Google Shape;65;p13"/>
          <p:cNvSpPr txBox="1"/>
          <p:nvPr/>
        </p:nvSpPr>
        <p:spPr>
          <a:xfrm>
            <a:off x="5858938" y="588829"/>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solidFill>
                  <a:schemeClr val="bg1">
                    <a:lumMod val="85000"/>
                  </a:schemeClr>
                </a:solidFill>
                <a:latin typeface="Impact"/>
                <a:ea typeface="Impact"/>
                <a:cs typeface="Impact"/>
                <a:sym typeface="Impact"/>
              </a:rPr>
              <a:t>04.</a:t>
            </a:r>
            <a:endParaRPr sz="2700" b="1" dirty="0">
              <a:solidFill>
                <a:schemeClr val="bg1">
                  <a:lumMod val="85000"/>
                </a:schemeClr>
              </a:solidFill>
              <a:latin typeface="Impact"/>
              <a:ea typeface="Impact"/>
              <a:cs typeface="Impact"/>
              <a:sym typeface="Impact"/>
            </a:endParaRPr>
          </a:p>
        </p:txBody>
      </p:sp>
      <p:sp>
        <p:nvSpPr>
          <p:cNvPr id="66" name="Google Shape;66;p13"/>
          <p:cNvSpPr txBox="1"/>
          <p:nvPr/>
        </p:nvSpPr>
        <p:spPr>
          <a:xfrm>
            <a:off x="7077600" y="588829"/>
            <a:ext cx="713100" cy="608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700" b="1" dirty="0">
                <a:solidFill>
                  <a:schemeClr val="bg1"/>
                </a:solidFill>
                <a:latin typeface="Impact"/>
                <a:ea typeface="Impact"/>
                <a:cs typeface="Impact"/>
                <a:sym typeface="Impact"/>
              </a:rPr>
              <a:t>05.</a:t>
            </a:r>
            <a:endParaRPr sz="2700" b="1" dirty="0">
              <a:solidFill>
                <a:schemeClr val="bg1"/>
              </a:solidFill>
              <a:latin typeface="Impact"/>
              <a:ea typeface="Impact"/>
              <a:cs typeface="Impact"/>
              <a:sym typeface="Impac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3BD8B85-9F05-9551-162E-0E05D2E294C8}"/>
                  </a:ext>
                </a:extLst>
              </p14:cNvPr>
              <p14:cNvContentPartPr/>
              <p14:nvPr/>
            </p14:nvContentPartPr>
            <p14:xfrm>
              <a:off x="-1470660" y="541020"/>
              <a:ext cx="360" cy="360"/>
            </p14:xfrm>
          </p:contentPart>
        </mc:Choice>
        <mc:Fallback xmlns="">
          <p:pic>
            <p:nvPicPr>
              <p:cNvPr id="2" name="Ink 1">
                <a:extLst>
                  <a:ext uri="{FF2B5EF4-FFF2-40B4-BE49-F238E27FC236}">
                    <a16:creationId xmlns:a16="http://schemas.microsoft.com/office/drawing/2014/main" id="{03BD8B85-9F05-9551-162E-0E05D2E294C8}"/>
                  </a:ext>
                </a:extLst>
              </p:cNvPr>
              <p:cNvPicPr/>
              <p:nvPr/>
            </p:nvPicPr>
            <p:blipFill>
              <a:blip r:embed="rId4"/>
              <a:stretch>
                <a:fillRect/>
              </a:stretch>
            </p:blipFill>
            <p:spPr>
              <a:xfrm>
                <a:off x="-1476780" y="534900"/>
                <a:ext cx="12600" cy="12600"/>
              </a:xfrm>
              <a:prstGeom prst="rect">
                <a:avLst/>
              </a:prstGeom>
            </p:spPr>
          </p:pic>
        </mc:Fallback>
      </mc:AlternateContent>
      <p:sp>
        <p:nvSpPr>
          <p:cNvPr id="11" name="TextBox 10">
            <a:extLst>
              <a:ext uri="{FF2B5EF4-FFF2-40B4-BE49-F238E27FC236}">
                <a16:creationId xmlns:a16="http://schemas.microsoft.com/office/drawing/2014/main" id="{43C08E28-8C93-1722-633E-BBE9D7577AA2}"/>
              </a:ext>
            </a:extLst>
          </p:cNvPr>
          <p:cNvSpPr txBox="1"/>
          <p:nvPr/>
        </p:nvSpPr>
        <p:spPr>
          <a:xfrm>
            <a:off x="8196441" y="627294"/>
            <a:ext cx="7131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8" name="Google Shape;58;p13">
            <a:extLst>
              <a:ext uri="{FF2B5EF4-FFF2-40B4-BE49-F238E27FC236}">
                <a16:creationId xmlns:a16="http://schemas.microsoft.com/office/drawing/2014/main" id="{0B1B2FD5-6621-AD48-54D9-0D4AC24B2670}"/>
              </a:ext>
            </a:extLst>
          </p:cNvPr>
          <p:cNvSpPr/>
          <p:nvPr/>
        </p:nvSpPr>
        <p:spPr>
          <a:xfrm>
            <a:off x="4766372" y="0"/>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4B302220-03C5-B994-CEC4-8EAC9A48BCC2}"/>
              </a:ext>
            </a:extLst>
          </p:cNvPr>
          <p:cNvSpPr/>
          <p:nvPr/>
        </p:nvSpPr>
        <p:spPr>
          <a:xfrm>
            <a:off x="4658362" y="0"/>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6" name="Google Shape;58;p13">
            <a:extLst>
              <a:ext uri="{FF2B5EF4-FFF2-40B4-BE49-F238E27FC236}">
                <a16:creationId xmlns:a16="http://schemas.microsoft.com/office/drawing/2014/main" id="{509D50A9-5FC8-CD11-73E9-01B09FB6F3E1}"/>
              </a:ext>
            </a:extLst>
          </p:cNvPr>
          <p:cNvSpPr/>
          <p:nvPr/>
        </p:nvSpPr>
        <p:spPr>
          <a:xfrm>
            <a:off x="4490146" y="0"/>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4" name="Google Shape;58;p13">
            <a:extLst>
              <a:ext uri="{FF2B5EF4-FFF2-40B4-BE49-F238E27FC236}">
                <a16:creationId xmlns:a16="http://schemas.microsoft.com/office/drawing/2014/main" id="{99E8CB13-0046-BDDE-D355-3D2A136E778A}"/>
              </a:ext>
            </a:extLst>
          </p:cNvPr>
          <p:cNvSpPr/>
          <p:nvPr/>
        </p:nvSpPr>
        <p:spPr>
          <a:xfrm>
            <a:off x="4140775" y="0"/>
            <a:ext cx="5724300" cy="5143500"/>
          </a:xfrm>
          <a:prstGeom prst="ellipse">
            <a:avLst/>
          </a:prstGeom>
          <a:solidFill>
            <a:srgbClr val="00187E"/>
          </a:solidFill>
          <a:ln>
            <a:noFill/>
          </a:ln>
        </p:spPr>
        <p:txBody>
          <a:bodyPr spcFirstLastPara="1" wrap="square" lIns="91425" tIns="91425" rIns="91425" bIns="91425" anchor="ctr" anchorCtr="0">
            <a:noAutofit/>
          </a:bodyPr>
          <a:lstStyle/>
          <a:p>
            <a:pPr lvl="0"/>
            <a:endParaRPr lang="en" b="1" dirty="0">
              <a:solidFill>
                <a:schemeClr val="bg1"/>
              </a:solidFill>
              <a:latin typeface="Impact"/>
              <a:ea typeface="Impact"/>
              <a:cs typeface="Impact"/>
              <a:sym typeface="Impact"/>
            </a:endParaRPr>
          </a:p>
        </p:txBody>
      </p:sp>
      <p:sp>
        <p:nvSpPr>
          <p:cNvPr id="71" name="Google Shape;71;p14"/>
          <p:cNvSpPr/>
          <p:nvPr/>
        </p:nvSpPr>
        <p:spPr>
          <a:xfrm>
            <a:off x="3292105" y="0"/>
            <a:ext cx="5724300" cy="5143500"/>
          </a:xfrm>
          <a:prstGeom prst="ellipse">
            <a:avLst/>
          </a:pr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4"/>
          <p:cNvSpPr/>
          <p:nvPr/>
        </p:nvSpPr>
        <p:spPr>
          <a:xfrm>
            <a:off x="2262300" y="0"/>
            <a:ext cx="5724300" cy="51435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4"/>
          <p:cNvSpPr/>
          <p:nvPr/>
        </p:nvSpPr>
        <p:spPr>
          <a:xfrm>
            <a:off x="867000" y="0"/>
            <a:ext cx="5724300" cy="5143500"/>
          </a:xfrm>
          <a:prstGeom prst="ellipse">
            <a:avLst/>
          </a:prstGeom>
          <a:solidFill>
            <a:srgbClr val="3D85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4"/>
          <p:cNvSpPr/>
          <p:nvPr/>
        </p:nvSpPr>
        <p:spPr>
          <a:xfrm>
            <a:off x="-599850" y="0"/>
            <a:ext cx="5724300" cy="5143500"/>
          </a:xfrm>
          <a:prstGeom prst="ellipse">
            <a:avLst/>
          </a:prstGeom>
          <a:solidFill>
            <a:srgbClr val="6FA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txBox="1"/>
          <p:nvPr/>
        </p:nvSpPr>
        <p:spPr>
          <a:xfrm>
            <a:off x="3329775" y="526725"/>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a:latin typeface="Impact"/>
                <a:ea typeface="Impact"/>
                <a:cs typeface="Impact"/>
                <a:sym typeface="Impact"/>
              </a:rPr>
              <a:t>02.</a:t>
            </a:r>
            <a:endParaRPr sz="2700" b="1">
              <a:latin typeface="Impact"/>
              <a:ea typeface="Impact"/>
              <a:cs typeface="Impact"/>
              <a:sym typeface="Impact"/>
            </a:endParaRPr>
          </a:p>
        </p:txBody>
      </p:sp>
      <p:sp>
        <p:nvSpPr>
          <p:cNvPr id="81" name="Google Shape;81;p14"/>
          <p:cNvSpPr txBox="1"/>
          <p:nvPr/>
        </p:nvSpPr>
        <p:spPr>
          <a:xfrm>
            <a:off x="4822425" y="526725"/>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tx1">
                    <a:lumMod val="85000"/>
                    <a:lumOff val="15000"/>
                  </a:schemeClr>
                </a:solidFill>
                <a:latin typeface="Impact"/>
                <a:ea typeface="Impact"/>
                <a:cs typeface="Impact"/>
                <a:sym typeface="Impact"/>
              </a:rPr>
              <a:t>03</a:t>
            </a:r>
            <a:r>
              <a:rPr lang="en" sz="2700" b="1" dirty="0">
                <a:latin typeface="Impact"/>
                <a:ea typeface="Impact"/>
                <a:cs typeface="Impact"/>
                <a:sym typeface="Impact"/>
              </a:rPr>
              <a:t>.</a:t>
            </a:r>
            <a:endParaRPr sz="2700" b="1" dirty="0">
              <a:latin typeface="Impact"/>
              <a:ea typeface="Impact"/>
              <a:cs typeface="Impact"/>
              <a:sym typeface="Impact"/>
            </a:endParaRPr>
          </a:p>
        </p:txBody>
      </p:sp>
      <p:sp>
        <p:nvSpPr>
          <p:cNvPr id="82" name="Google Shape;82;p14"/>
          <p:cNvSpPr txBox="1"/>
          <p:nvPr/>
        </p:nvSpPr>
        <p:spPr>
          <a:xfrm>
            <a:off x="6315075" y="526725"/>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bg1">
                    <a:lumMod val="85000"/>
                  </a:schemeClr>
                </a:solidFill>
                <a:latin typeface="Impact"/>
                <a:ea typeface="Impact"/>
                <a:cs typeface="Impact"/>
                <a:sym typeface="Impact"/>
              </a:rPr>
              <a:t>04.</a:t>
            </a:r>
            <a:endParaRPr sz="2700" b="1" dirty="0">
              <a:solidFill>
                <a:schemeClr val="bg1">
                  <a:lumMod val="85000"/>
                </a:schemeClr>
              </a:solidFill>
              <a:latin typeface="Impact"/>
              <a:ea typeface="Impact"/>
              <a:cs typeface="Impact"/>
              <a:sym typeface="Impact"/>
            </a:endParaRPr>
          </a:p>
        </p:txBody>
      </p:sp>
      <p:sp>
        <p:nvSpPr>
          <p:cNvPr id="83" name="Google Shape;83;p14"/>
          <p:cNvSpPr txBox="1"/>
          <p:nvPr/>
        </p:nvSpPr>
        <p:spPr>
          <a:xfrm>
            <a:off x="7506681" y="545850"/>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bg1"/>
                </a:solidFill>
                <a:latin typeface="Impact"/>
                <a:ea typeface="Impact"/>
                <a:cs typeface="Impact"/>
                <a:sym typeface="Impact"/>
              </a:rPr>
              <a:t>05.</a:t>
            </a:r>
            <a:endParaRPr sz="2700" b="1" dirty="0">
              <a:solidFill>
                <a:schemeClr val="bg1"/>
              </a:solidFill>
              <a:latin typeface="Impact"/>
              <a:ea typeface="Impact"/>
              <a:cs typeface="Impact"/>
              <a:sym typeface="Impact"/>
            </a:endParaRPr>
          </a:p>
        </p:txBody>
      </p:sp>
      <p:sp>
        <p:nvSpPr>
          <p:cNvPr id="2" name="TextBox 1">
            <a:extLst>
              <a:ext uri="{FF2B5EF4-FFF2-40B4-BE49-F238E27FC236}">
                <a16:creationId xmlns:a16="http://schemas.microsoft.com/office/drawing/2014/main" id="{1E5F9178-0C27-43E0-1D83-F9BD5202B2AD}"/>
              </a:ext>
            </a:extLst>
          </p:cNvPr>
          <p:cNvSpPr txBox="1"/>
          <p:nvPr/>
        </p:nvSpPr>
        <p:spPr>
          <a:xfrm>
            <a:off x="590774" y="1059181"/>
            <a:ext cx="3041025" cy="400110"/>
          </a:xfrm>
          <a:prstGeom prst="rect">
            <a:avLst/>
          </a:prstGeom>
          <a:noFill/>
        </p:spPr>
        <p:txBody>
          <a:bodyPr wrap="square" rtlCol="0">
            <a:spAutoFit/>
          </a:bodyPr>
          <a:lstStyle/>
          <a:p>
            <a:r>
              <a:rPr lang="en-US" sz="2000" dirty="0">
                <a:solidFill>
                  <a:schemeClr val="tx1"/>
                </a:solidFill>
                <a:latin typeface="Oswald SemiBold" panose="00000700000000000000" pitchFamily="2" charset="0"/>
              </a:rPr>
              <a:t>What Is Doubly Linked List</a:t>
            </a:r>
            <a:r>
              <a:rPr lang="en-US" sz="2000" dirty="0">
                <a:solidFill>
                  <a:schemeClr val="tx1"/>
                </a:solidFill>
                <a:latin typeface="Georgia" panose="02040502050405020303" pitchFamily="18" charset="0"/>
              </a:rPr>
              <a:t>?</a:t>
            </a:r>
            <a:endParaRPr lang="en-IN" sz="2000" dirty="0">
              <a:solidFill>
                <a:schemeClr val="tx1"/>
              </a:solidFill>
              <a:latin typeface="Georgia" panose="02040502050405020303" pitchFamily="18" charset="0"/>
            </a:endParaRPr>
          </a:p>
        </p:txBody>
      </p:sp>
      <p:sp>
        <p:nvSpPr>
          <p:cNvPr id="3" name="TextBox 2">
            <a:extLst>
              <a:ext uri="{FF2B5EF4-FFF2-40B4-BE49-F238E27FC236}">
                <a16:creationId xmlns:a16="http://schemas.microsoft.com/office/drawing/2014/main" id="{CD095D4D-6434-1249-619E-6216DAF8F6B2}"/>
              </a:ext>
            </a:extLst>
          </p:cNvPr>
          <p:cNvSpPr txBox="1"/>
          <p:nvPr/>
        </p:nvSpPr>
        <p:spPr>
          <a:xfrm>
            <a:off x="430125" y="1502809"/>
            <a:ext cx="3783795" cy="2031325"/>
          </a:xfrm>
          <a:prstGeom prst="rect">
            <a:avLst/>
          </a:prstGeom>
          <a:noFill/>
        </p:spPr>
        <p:txBody>
          <a:bodyPr wrap="square" rtlCol="0">
            <a:spAutoFit/>
          </a:bodyPr>
          <a:lstStyle/>
          <a:p>
            <a:r>
              <a:rPr lang="en-US" dirty="0">
                <a:solidFill>
                  <a:schemeClr val="tx1"/>
                </a:solidFill>
                <a:latin typeface="Oswald SemiBold" panose="00000700000000000000" pitchFamily="2" charset="0"/>
              </a:rPr>
              <a:t>A doubly linked list is a type of linked list(Linear Data Structure) in which each node contains 3 parts, a data part and two addresses, one points to the previous node and one for the next node. It differs from the singly linked list as it has an extra pointer called previous that points to the previous node, allowing the traversal in both forward and backward directions.</a:t>
            </a:r>
          </a:p>
          <a:p>
            <a:endParaRPr lang="en-IN" dirty="0">
              <a:latin typeface="Oswald SemiBold" panose="00000700000000000000" pitchFamily="2" charset="0"/>
            </a:endParaRPr>
          </a:p>
        </p:txBody>
      </p:sp>
      <p:pic>
        <p:nvPicPr>
          <p:cNvPr id="1026" name="Picture 2" descr="Doubly Linked List in C and C++">
            <a:extLst>
              <a:ext uri="{FF2B5EF4-FFF2-40B4-BE49-F238E27FC236}">
                <a16:creationId xmlns:a16="http://schemas.microsoft.com/office/drawing/2014/main" id="{7AE4327F-1E84-F8AC-3BAC-79663D2D0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774" y="3358053"/>
            <a:ext cx="3037783" cy="12587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79C4BD-8CF7-FAA4-02BA-820D6068F211}"/>
              </a:ext>
            </a:extLst>
          </p:cNvPr>
          <p:cNvSpPr txBox="1"/>
          <p:nvPr/>
        </p:nvSpPr>
        <p:spPr>
          <a:xfrm>
            <a:off x="8465106" y="627294"/>
            <a:ext cx="58284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50000">
              <a:schemeClr val="accent1">
                <a:lumMod val="97000"/>
                <a:lumOff val="3000"/>
              </a:schemeClr>
            </a:gs>
            <a:gs pos="100000">
              <a:schemeClr val="accent1">
                <a:lumMod val="60000"/>
                <a:lumOff val="40000"/>
              </a:schemeClr>
            </a:gs>
          </a:gsLst>
          <a:path path="circle">
            <a:fillToRect t="100000" r="100000"/>
          </a:path>
          <a:tileRect l="-100000" b="-100000"/>
        </a:gradFill>
        <a:effectLst/>
      </p:bgPr>
    </p:bg>
    <p:spTree>
      <p:nvGrpSpPr>
        <p:cNvPr id="1" name="Shape 87"/>
        <p:cNvGrpSpPr/>
        <p:nvPr/>
      </p:nvGrpSpPr>
      <p:grpSpPr>
        <a:xfrm>
          <a:off x="0" y="0"/>
          <a:ext cx="0" cy="0"/>
          <a:chOff x="0" y="0"/>
          <a:chExt cx="0" cy="0"/>
        </a:xfrm>
      </p:grpSpPr>
      <p:sp>
        <p:nvSpPr>
          <p:cNvPr id="8" name="Google Shape;58;p13">
            <a:extLst>
              <a:ext uri="{FF2B5EF4-FFF2-40B4-BE49-F238E27FC236}">
                <a16:creationId xmlns:a16="http://schemas.microsoft.com/office/drawing/2014/main" id="{AB6EDDAF-44D2-9661-3BB9-FB7AC9E2E6EA}"/>
              </a:ext>
            </a:extLst>
          </p:cNvPr>
          <p:cNvSpPr/>
          <p:nvPr/>
        </p:nvSpPr>
        <p:spPr>
          <a:xfrm>
            <a:off x="4368823" y="-3060"/>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FCCECB91-09EC-3B07-9A04-003247F88AA1}"/>
              </a:ext>
            </a:extLst>
          </p:cNvPr>
          <p:cNvSpPr/>
          <p:nvPr/>
        </p:nvSpPr>
        <p:spPr>
          <a:xfrm>
            <a:off x="4106865" y="18213"/>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6" name="Google Shape;58;p13">
            <a:extLst>
              <a:ext uri="{FF2B5EF4-FFF2-40B4-BE49-F238E27FC236}">
                <a16:creationId xmlns:a16="http://schemas.microsoft.com/office/drawing/2014/main" id="{72005EFD-92E6-1CD0-9FB4-0B1B60B38303}"/>
              </a:ext>
            </a:extLst>
          </p:cNvPr>
          <p:cNvSpPr/>
          <p:nvPr/>
        </p:nvSpPr>
        <p:spPr>
          <a:xfrm>
            <a:off x="3825412" y="-21273"/>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2" name="Google Shape;58;p13">
            <a:extLst>
              <a:ext uri="{FF2B5EF4-FFF2-40B4-BE49-F238E27FC236}">
                <a16:creationId xmlns:a16="http://schemas.microsoft.com/office/drawing/2014/main" id="{A0157C73-8ECB-B658-C462-DB570E14F61A}"/>
              </a:ext>
            </a:extLst>
          </p:cNvPr>
          <p:cNvSpPr/>
          <p:nvPr/>
        </p:nvSpPr>
        <p:spPr>
          <a:xfrm>
            <a:off x="3198993" y="0"/>
            <a:ext cx="5724300" cy="5143500"/>
          </a:xfrm>
          <a:prstGeom prst="ellipse">
            <a:avLst/>
          </a:prstGeom>
          <a:solidFill>
            <a:srgbClr val="00187E"/>
          </a:solidFill>
          <a:ln>
            <a:noFill/>
          </a:ln>
        </p:spPr>
        <p:txBody>
          <a:bodyPr spcFirstLastPara="1" wrap="square" lIns="91425" tIns="91425" rIns="91425" bIns="91425" anchor="ctr" anchorCtr="0">
            <a:noAutofit/>
          </a:bodyPr>
          <a:lstStyle/>
          <a:p>
            <a:pPr lvl="0"/>
            <a:endParaRPr lang="en" b="1" dirty="0">
              <a:solidFill>
                <a:schemeClr val="bg1"/>
              </a:solidFill>
              <a:latin typeface="Impact"/>
              <a:ea typeface="Impact"/>
              <a:cs typeface="Impact"/>
              <a:sym typeface="Impact"/>
            </a:endParaRPr>
          </a:p>
        </p:txBody>
      </p:sp>
      <p:sp>
        <p:nvSpPr>
          <p:cNvPr id="88" name="Google Shape;88;p15"/>
          <p:cNvSpPr/>
          <p:nvPr/>
        </p:nvSpPr>
        <p:spPr>
          <a:xfrm>
            <a:off x="2134123" y="0"/>
            <a:ext cx="5724300" cy="5143500"/>
          </a:xfrm>
          <a:prstGeom prst="ellipse">
            <a:avLst/>
          </a:pr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880254" y="-1530"/>
            <a:ext cx="5724300" cy="51435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373615" y="0"/>
            <a:ext cx="5724300" cy="5143500"/>
          </a:xfrm>
          <a:prstGeom prst="ellipse">
            <a:avLst/>
          </a:prstGeom>
          <a:solidFill>
            <a:srgbClr val="3D85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txBox="1"/>
          <p:nvPr/>
        </p:nvSpPr>
        <p:spPr>
          <a:xfrm>
            <a:off x="3581810" y="526725"/>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tx1">
                    <a:lumMod val="85000"/>
                    <a:lumOff val="15000"/>
                  </a:schemeClr>
                </a:solidFill>
                <a:latin typeface="Impact"/>
                <a:ea typeface="Impact"/>
                <a:cs typeface="Impact"/>
                <a:sym typeface="Impact"/>
              </a:rPr>
              <a:t>03.</a:t>
            </a:r>
            <a:endParaRPr sz="2700" b="1" dirty="0">
              <a:solidFill>
                <a:schemeClr val="tx1">
                  <a:lumMod val="85000"/>
                  <a:lumOff val="15000"/>
                </a:schemeClr>
              </a:solidFill>
              <a:latin typeface="Impact"/>
              <a:ea typeface="Impact"/>
              <a:cs typeface="Impact"/>
              <a:sym typeface="Impact"/>
            </a:endParaRPr>
          </a:p>
        </p:txBody>
      </p:sp>
      <p:sp>
        <p:nvSpPr>
          <p:cNvPr id="99" name="Google Shape;99;p15"/>
          <p:cNvSpPr txBox="1"/>
          <p:nvPr/>
        </p:nvSpPr>
        <p:spPr>
          <a:xfrm>
            <a:off x="4963073" y="549312"/>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bg1">
                    <a:lumMod val="85000"/>
                  </a:schemeClr>
                </a:solidFill>
                <a:latin typeface="Impact"/>
                <a:ea typeface="Impact"/>
                <a:cs typeface="Impact"/>
                <a:sym typeface="Impact"/>
              </a:rPr>
              <a:t>04.</a:t>
            </a:r>
            <a:endParaRPr sz="2700" b="1" dirty="0">
              <a:solidFill>
                <a:schemeClr val="bg1">
                  <a:lumMod val="85000"/>
                </a:schemeClr>
              </a:solidFill>
              <a:latin typeface="Impact"/>
              <a:ea typeface="Impact"/>
              <a:cs typeface="Impact"/>
              <a:sym typeface="Impact"/>
            </a:endParaRPr>
          </a:p>
        </p:txBody>
      </p:sp>
      <p:sp>
        <p:nvSpPr>
          <p:cNvPr id="100" name="Google Shape;100;p15"/>
          <p:cNvSpPr txBox="1"/>
          <p:nvPr/>
        </p:nvSpPr>
        <p:spPr>
          <a:xfrm>
            <a:off x="6097061" y="549312"/>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bg1">
                    <a:lumMod val="85000"/>
                  </a:schemeClr>
                </a:solidFill>
                <a:latin typeface="Impact"/>
                <a:ea typeface="Impact"/>
                <a:cs typeface="Impact"/>
                <a:sym typeface="Impact"/>
              </a:rPr>
              <a:t>05.</a:t>
            </a:r>
            <a:endParaRPr sz="2700" b="1" dirty="0">
              <a:solidFill>
                <a:schemeClr val="bg1">
                  <a:lumMod val="85000"/>
                </a:schemeClr>
              </a:solidFill>
              <a:latin typeface="Impact"/>
              <a:ea typeface="Impact"/>
              <a:cs typeface="Impact"/>
              <a:sym typeface="Impact"/>
            </a:endParaRPr>
          </a:p>
        </p:txBody>
      </p:sp>
      <p:sp>
        <p:nvSpPr>
          <p:cNvPr id="3" name="TextBox 2">
            <a:extLst>
              <a:ext uri="{FF2B5EF4-FFF2-40B4-BE49-F238E27FC236}">
                <a16:creationId xmlns:a16="http://schemas.microsoft.com/office/drawing/2014/main" id="{CF08ABF1-A63B-4634-5700-9CDCF087DFB5}"/>
              </a:ext>
            </a:extLst>
          </p:cNvPr>
          <p:cNvSpPr txBox="1"/>
          <p:nvPr/>
        </p:nvSpPr>
        <p:spPr>
          <a:xfrm>
            <a:off x="1564706" y="1013928"/>
            <a:ext cx="1839818" cy="461665"/>
          </a:xfrm>
          <a:prstGeom prst="rect">
            <a:avLst/>
          </a:prstGeom>
          <a:noFill/>
        </p:spPr>
        <p:txBody>
          <a:bodyPr wrap="square" rtlCol="0">
            <a:spAutoFit/>
          </a:bodyPr>
          <a:lstStyle/>
          <a:p>
            <a:r>
              <a:rPr lang="en-US" sz="2400" dirty="0">
                <a:solidFill>
                  <a:schemeClr val="tx1"/>
                </a:solidFill>
                <a:latin typeface="Oswald SemiBold" panose="00000700000000000000" pitchFamily="2" charset="0"/>
              </a:rPr>
              <a:t>Key Features</a:t>
            </a:r>
            <a:r>
              <a:rPr lang="en-US" sz="2000" dirty="0">
                <a:solidFill>
                  <a:schemeClr val="tx1"/>
                </a:solidFill>
                <a:latin typeface="Oswald SemiBold" panose="00000700000000000000" pitchFamily="2" charset="0"/>
              </a:rPr>
              <a:t>:</a:t>
            </a:r>
            <a:endParaRPr lang="en-IN" sz="2000" dirty="0">
              <a:solidFill>
                <a:schemeClr val="tx1"/>
              </a:solidFill>
              <a:latin typeface="Oswald SemiBold" panose="00000700000000000000" pitchFamily="2" charset="0"/>
            </a:endParaRPr>
          </a:p>
        </p:txBody>
      </p:sp>
      <p:sp>
        <p:nvSpPr>
          <p:cNvPr id="4" name="TextBox 3">
            <a:extLst>
              <a:ext uri="{FF2B5EF4-FFF2-40B4-BE49-F238E27FC236}">
                <a16:creationId xmlns:a16="http://schemas.microsoft.com/office/drawing/2014/main" id="{EC76BF70-2074-F1A6-6E84-662BD7FEABFC}"/>
              </a:ext>
            </a:extLst>
          </p:cNvPr>
          <p:cNvSpPr txBox="1"/>
          <p:nvPr/>
        </p:nvSpPr>
        <p:spPr>
          <a:xfrm>
            <a:off x="515578" y="2058744"/>
            <a:ext cx="3925986"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Oswald SemiBold" panose="00000700000000000000" pitchFamily="2" charset="0"/>
              </a:rPr>
              <a:t>Bidirectional traversal (forward &amp; backward)</a:t>
            </a:r>
          </a:p>
          <a:p>
            <a:pPr marL="285750" indent="-285750">
              <a:buFont typeface="Arial" panose="020B0604020202020204" pitchFamily="34" charset="0"/>
              <a:buChar char="•"/>
            </a:pPr>
            <a:r>
              <a:rPr lang="en-US" sz="1800" dirty="0">
                <a:latin typeface="Oswald SemiBold" panose="00000700000000000000" pitchFamily="2" charset="0"/>
              </a:rPr>
              <a:t>Efficient insertion and deletion</a:t>
            </a:r>
          </a:p>
          <a:p>
            <a:pPr marL="285750" indent="-285750">
              <a:buFont typeface="Arial" panose="020B0604020202020204" pitchFamily="34" charset="0"/>
              <a:buChar char="•"/>
            </a:pPr>
            <a:r>
              <a:rPr lang="en-US" sz="1800" dirty="0">
                <a:latin typeface="Oswald SemiBold" panose="00000700000000000000" pitchFamily="2" charset="0"/>
              </a:rPr>
              <a:t>No need to shift elements like arrays</a:t>
            </a:r>
          </a:p>
          <a:p>
            <a:pPr marL="285750" indent="-285750">
              <a:buFont typeface="Arial" panose="020B0604020202020204" pitchFamily="34" charset="0"/>
              <a:buChar char="•"/>
            </a:pPr>
            <a:r>
              <a:rPr lang="en-US" sz="1800" dirty="0">
                <a:latin typeface="Oswald SemiBold" panose="00000700000000000000" pitchFamily="2" charset="0"/>
              </a:rPr>
              <a:t>Dynamic memory allocation</a:t>
            </a:r>
            <a:endParaRPr lang="en-IN" sz="1800" dirty="0">
              <a:latin typeface="Oswald SemiBold" panose="00000700000000000000" pitchFamily="2" charset="0"/>
            </a:endParaRPr>
          </a:p>
        </p:txBody>
      </p:sp>
      <p:sp>
        <p:nvSpPr>
          <p:cNvPr id="5" name="TextBox 4">
            <a:extLst>
              <a:ext uri="{FF2B5EF4-FFF2-40B4-BE49-F238E27FC236}">
                <a16:creationId xmlns:a16="http://schemas.microsoft.com/office/drawing/2014/main" id="{C2AC7351-8507-4B82-3B9B-303BE658028E}"/>
              </a:ext>
            </a:extLst>
          </p:cNvPr>
          <p:cNvSpPr txBox="1"/>
          <p:nvPr/>
        </p:nvSpPr>
        <p:spPr>
          <a:xfrm>
            <a:off x="7356650" y="625764"/>
            <a:ext cx="7131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3000">
              <a:srgbClr val="0070C0"/>
            </a:gs>
            <a:gs pos="100000">
              <a:schemeClr val="accent1">
                <a:lumMod val="60000"/>
                <a:lumOff val="40000"/>
              </a:schemeClr>
            </a:gs>
          </a:gsLst>
          <a:path path="circle">
            <a:fillToRect l="100000" t="100000"/>
          </a:path>
          <a:tileRect r="-100000" b="-100000"/>
        </a:gradFill>
        <a:effectLst/>
      </p:bgPr>
    </p:bg>
    <p:spTree>
      <p:nvGrpSpPr>
        <p:cNvPr id="1" name="Shape 104"/>
        <p:cNvGrpSpPr/>
        <p:nvPr/>
      </p:nvGrpSpPr>
      <p:grpSpPr>
        <a:xfrm>
          <a:off x="0" y="0"/>
          <a:ext cx="0" cy="0"/>
          <a:chOff x="0" y="0"/>
          <a:chExt cx="0" cy="0"/>
        </a:xfrm>
      </p:grpSpPr>
      <p:sp>
        <p:nvSpPr>
          <p:cNvPr id="9" name="Google Shape;58;p13">
            <a:extLst>
              <a:ext uri="{FF2B5EF4-FFF2-40B4-BE49-F238E27FC236}">
                <a16:creationId xmlns:a16="http://schemas.microsoft.com/office/drawing/2014/main" id="{14219B61-F9DE-53CF-7523-A6F4AF9542BD}"/>
              </a:ext>
            </a:extLst>
          </p:cNvPr>
          <p:cNvSpPr/>
          <p:nvPr/>
        </p:nvSpPr>
        <p:spPr>
          <a:xfrm>
            <a:off x="3756975" y="4208"/>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8" name="Google Shape;58;p13">
            <a:extLst>
              <a:ext uri="{FF2B5EF4-FFF2-40B4-BE49-F238E27FC236}">
                <a16:creationId xmlns:a16="http://schemas.microsoft.com/office/drawing/2014/main" id="{CAAD8EAB-06C6-66DB-8FA4-74A08851E2A0}"/>
              </a:ext>
            </a:extLst>
          </p:cNvPr>
          <p:cNvSpPr/>
          <p:nvPr/>
        </p:nvSpPr>
        <p:spPr>
          <a:xfrm>
            <a:off x="3452402" y="-2906"/>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810A9E75-6922-CF72-30B8-B87460E39CD3}"/>
              </a:ext>
            </a:extLst>
          </p:cNvPr>
          <p:cNvSpPr/>
          <p:nvPr/>
        </p:nvSpPr>
        <p:spPr>
          <a:xfrm>
            <a:off x="3157229" y="-2104"/>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6" name="Google Shape;58;p13">
            <a:extLst>
              <a:ext uri="{FF2B5EF4-FFF2-40B4-BE49-F238E27FC236}">
                <a16:creationId xmlns:a16="http://schemas.microsoft.com/office/drawing/2014/main" id="{2D563DB7-56E0-8515-13D0-C29AA207DA6F}"/>
              </a:ext>
            </a:extLst>
          </p:cNvPr>
          <p:cNvSpPr/>
          <p:nvPr/>
        </p:nvSpPr>
        <p:spPr>
          <a:xfrm>
            <a:off x="2807154" y="2104"/>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4" name="Google Shape;58;p13">
            <a:extLst>
              <a:ext uri="{FF2B5EF4-FFF2-40B4-BE49-F238E27FC236}">
                <a16:creationId xmlns:a16="http://schemas.microsoft.com/office/drawing/2014/main" id="{6B416562-8F4A-5AC0-BB27-16A12368567A}"/>
              </a:ext>
            </a:extLst>
          </p:cNvPr>
          <p:cNvSpPr/>
          <p:nvPr/>
        </p:nvSpPr>
        <p:spPr>
          <a:xfrm>
            <a:off x="2100907" y="0"/>
            <a:ext cx="5724300" cy="5143500"/>
          </a:xfrm>
          <a:prstGeom prst="ellipse">
            <a:avLst/>
          </a:prstGeom>
          <a:solidFill>
            <a:srgbClr val="00187E"/>
          </a:solidFill>
          <a:ln>
            <a:noFill/>
          </a:ln>
        </p:spPr>
        <p:txBody>
          <a:bodyPr spcFirstLastPara="1" wrap="square" lIns="91425" tIns="91425" rIns="91425" bIns="91425" anchor="ctr" anchorCtr="0">
            <a:noAutofit/>
          </a:bodyPr>
          <a:lstStyle/>
          <a:p>
            <a:pPr lvl="0"/>
            <a:endParaRPr lang="en" b="1" dirty="0">
              <a:solidFill>
                <a:schemeClr val="bg1"/>
              </a:solidFill>
              <a:latin typeface="Impact"/>
              <a:ea typeface="Impact"/>
              <a:cs typeface="Impact"/>
              <a:sym typeface="Impact"/>
            </a:endParaRPr>
          </a:p>
        </p:txBody>
      </p:sp>
      <p:sp>
        <p:nvSpPr>
          <p:cNvPr id="5" name="TextBox 4">
            <a:extLst>
              <a:ext uri="{FF2B5EF4-FFF2-40B4-BE49-F238E27FC236}">
                <a16:creationId xmlns:a16="http://schemas.microsoft.com/office/drawing/2014/main" id="{912728C6-DDE3-75B0-2416-06F35EAA7A04}"/>
              </a:ext>
            </a:extLst>
          </p:cNvPr>
          <p:cNvSpPr txBox="1"/>
          <p:nvPr/>
        </p:nvSpPr>
        <p:spPr>
          <a:xfrm>
            <a:off x="6182145" y="577009"/>
            <a:ext cx="7131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
        <p:nvSpPr>
          <p:cNvPr id="105" name="Google Shape;105;p16"/>
          <p:cNvSpPr/>
          <p:nvPr/>
        </p:nvSpPr>
        <p:spPr>
          <a:xfrm>
            <a:off x="1143532" y="0"/>
            <a:ext cx="5724300" cy="5143500"/>
          </a:xfrm>
          <a:prstGeom prst="ellipse">
            <a:avLst/>
          </a:pr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a:off x="-1057432" y="0"/>
            <a:ext cx="7018860" cy="51435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txBox="1"/>
          <p:nvPr/>
        </p:nvSpPr>
        <p:spPr>
          <a:xfrm>
            <a:off x="4289903" y="526725"/>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bg1">
                    <a:lumMod val="85000"/>
                  </a:schemeClr>
                </a:solidFill>
                <a:latin typeface="Impact"/>
                <a:ea typeface="Impact"/>
                <a:cs typeface="Impact"/>
                <a:sym typeface="Impact"/>
              </a:rPr>
              <a:t>04.</a:t>
            </a:r>
            <a:endParaRPr sz="2700" b="1" dirty="0">
              <a:solidFill>
                <a:schemeClr val="bg1">
                  <a:lumMod val="85000"/>
                </a:schemeClr>
              </a:solidFill>
              <a:latin typeface="Impact"/>
              <a:ea typeface="Impact"/>
              <a:cs typeface="Impact"/>
              <a:sym typeface="Impact"/>
            </a:endParaRPr>
          </a:p>
        </p:txBody>
      </p:sp>
      <p:sp>
        <p:nvSpPr>
          <p:cNvPr id="117" name="Google Shape;117;p16"/>
          <p:cNvSpPr txBox="1"/>
          <p:nvPr/>
        </p:nvSpPr>
        <p:spPr>
          <a:xfrm>
            <a:off x="5133809" y="526725"/>
            <a:ext cx="713100" cy="6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b="1" dirty="0">
                <a:solidFill>
                  <a:schemeClr val="bg1"/>
                </a:solidFill>
                <a:latin typeface="Impact"/>
                <a:ea typeface="Impact"/>
                <a:cs typeface="Impact"/>
                <a:sym typeface="Impact"/>
              </a:rPr>
              <a:t>05.</a:t>
            </a:r>
            <a:endParaRPr sz="2700" b="1" dirty="0">
              <a:solidFill>
                <a:schemeClr val="bg1"/>
              </a:solidFill>
              <a:latin typeface="Impact"/>
              <a:ea typeface="Impact"/>
              <a:cs typeface="Impact"/>
              <a:sym typeface="Impact"/>
            </a:endParaRPr>
          </a:p>
        </p:txBody>
      </p:sp>
      <p:sp>
        <p:nvSpPr>
          <p:cNvPr id="2" name="TextBox 1">
            <a:extLst>
              <a:ext uri="{FF2B5EF4-FFF2-40B4-BE49-F238E27FC236}">
                <a16:creationId xmlns:a16="http://schemas.microsoft.com/office/drawing/2014/main" id="{50BF8867-A43C-BC3B-E8CA-A9BA9FE8F1D6}"/>
              </a:ext>
            </a:extLst>
          </p:cNvPr>
          <p:cNvSpPr txBox="1"/>
          <p:nvPr/>
        </p:nvSpPr>
        <p:spPr>
          <a:xfrm>
            <a:off x="-1110" y="878325"/>
            <a:ext cx="3819525" cy="400110"/>
          </a:xfrm>
          <a:prstGeom prst="rect">
            <a:avLst/>
          </a:prstGeom>
          <a:noFill/>
        </p:spPr>
        <p:txBody>
          <a:bodyPr wrap="square" rtlCol="0">
            <a:spAutoFit/>
          </a:bodyPr>
          <a:lstStyle/>
          <a:p>
            <a:r>
              <a:rPr lang="en-US" sz="2000" dirty="0">
                <a:solidFill>
                  <a:schemeClr val="bg1">
                    <a:lumMod val="85000"/>
                  </a:schemeClr>
                </a:solidFill>
                <a:latin typeface="Oswald SemiBold" panose="00000700000000000000" pitchFamily="2" charset="0"/>
              </a:rPr>
              <a:t>Advantages of Doubly Linked Lists:</a:t>
            </a:r>
            <a:endParaRPr lang="en-IN" sz="2000" dirty="0">
              <a:solidFill>
                <a:schemeClr val="bg1">
                  <a:lumMod val="85000"/>
                </a:schemeClr>
              </a:solidFill>
              <a:latin typeface="Oswald SemiBold" panose="00000700000000000000" pitchFamily="2" charset="0"/>
            </a:endParaRPr>
          </a:p>
        </p:txBody>
      </p:sp>
      <p:sp>
        <p:nvSpPr>
          <p:cNvPr id="3" name="TextBox 2">
            <a:extLst>
              <a:ext uri="{FF2B5EF4-FFF2-40B4-BE49-F238E27FC236}">
                <a16:creationId xmlns:a16="http://schemas.microsoft.com/office/drawing/2014/main" id="{A06E4536-58B0-1413-D252-0990CA920486}"/>
              </a:ext>
            </a:extLst>
          </p:cNvPr>
          <p:cNvSpPr txBox="1"/>
          <p:nvPr/>
        </p:nvSpPr>
        <p:spPr>
          <a:xfrm>
            <a:off x="-1109" y="1354208"/>
            <a:ext cx="4516838" cy="1954381"/>
          </a:xfrm>
          <a:prstGeom prst="rect">
            <a:avLst/>
          </a:prstGeom>
          <a:noFill/>
        </p:spPr>
        <p:txBody>
          <a:bodyPr wrap="square" rtlCol="0">
            <a:spAutoFit/>
          </a:bodyPr>
          <a:lstStyle/>
          <a:p>
            <a:pPr>
              <a:buFont typeface="Arial" panose="020B0604020202020204" pitchFamily="34" charset="0"/>
              <a:buChar char="•"/>
            </a:pPr>
            <a:r>
              <a:rPr lang="en-US" sz="1100" dirty="0">
                <a:solidFill>
                  <a:schemeClr val="bg1">
                    <a:lumMod val="85000"/>
                  </a:schemeClr>
                </a:solidFill>
                <a:latin typeface="Oswald SemiBold" panose="00000700000000000000" pitchFamily="2" charset="0"/>
              </a:rPr>
              <a:t>Unlike singly linked list, we can traverse in both the direction forward and reverse using doubly linked list which makes operations like reversing and searching from end easier and more efficient.</a:t>
            </a:r>
          </a:p>
          <a:p>
            <a:pPr>
              <a:buFont typeface="Arial" panose="020B0604020202020204" pitchFamily="34" charset="0"/>
              <a:buChar char="•"/>
            </a:pPr>
            <a:r>
              <a:rPr lang="en-US" sz="1100" dirty="0">
                <a:solidFill>
                  <a:schemeClr val="bg1">
                    <a:lumMod val="85000"/>
                  </a:schemeClr>
                </a:solidFill>
                <a:latin typeface="Oswald SemiBold" panose="00000700000000000000" pitchFamily="2" charset="0"/>
              </a:rPr>
              <a:t>It is fast and easier to delete a node in doubly linked list, if the node to be deleted is given then we can search the previous node quickly and update its links.</a:t>
            </a:r>
          </a:p>
          <a:p>
            <a:pPr>
              <a:buFont typeface="Arial" panose="020B0604020202020204" pitchFamily="34" charset="0"/>
              <a:buChar char="•"/>
            </a:pPr>
            <a:r>
              <a:rPr lang="en-US" sz="1100" dirty="0">
                <a:solidFill>
                  <a:schemeClr val="bg1">
                    <a:lumMod val="85000"/>
                  </a:schemeClr>
                </a:solidFill>
                <a:latin typeface="Oswald SemiBold" panose="00000700000000000000" pitchFamily="2" charset="0"/>
              </a:rPr>
              <a:t>Inserting a new node is also easier in doubly linked list, as we can simply insert a new node before a given node by updating the links.</a:t>
            </a:r>
          </a:p>
          <a:p>
            <a:pPr>
              <a:buFont typeface="Arial" panose="020B0604020202020204" pitchFamily="34" charset="0"/>
              <a:buChar char="•"/>
            </a:pPr>
            <a:r>
              <a:rPr lang="en-US" sz="1100" dirty="0">
                <a:solidFill>
                  <a:schemeClr val="bg1">
                    <a:lumMod val="85000"/>
                  </a:schemeClr>
                </a:solidFill>
                <a:latin typeface="Oswald SemiBold" panose="00000700000000000000" pitchFamily="2" charset="0"/>
              </a:rPr>
              <a:t>In a doubly linked list, we need not to keep track of the previous node during traversal that is very useful in data structures like the binary tree where we need to keep track of the parent node.</a:t>
            </a:r>
          </a:p>
        </p:txBody>
      </p:sp>
      <p:sp>
        <p:nvSpPr>
          <p:cNvPr id="12" name="TextBox 11">
            <a:extLst>
              <a:ext uri="{FF2B5EF4-FFF2-40B4-BE49-F238E27FC236}">
                <a16:creationId xmlns:a16="http://schemas.microsoft.com/office/drawing/2014/main" id="{1C88E212-FDE9-8F12-04EE-5250DAB040F8}"/>
              </a:ext>
            </a:extLst>
          </p:cNvPr>
          <p:cNvSpPr txBox="1"/>
          <p:nvPr/>
        </p:nvSpPr>
        <p:spPr>
          <a:xfrm>
            <a:off x="7101943" y="577009"/>
            <a:ext cx="58056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07</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4000">
              <a:schemeClr val="accent5">
                <a:lumMod val="75000"/>
              </a:schemeClr>
            </a:gs>
            <a:gs pos="10000">
              <a:schemeClr val="accent1">
                <a:lumMod val="60000"/>
                <a:lumOff val="40000"/>
              </a:schemeClr>
            </a:gs>
          </a:gsLst>
          <a:path path="circle">
            <a:fillToRect l="100000" t="100000"/>
          </a:path>
          <a:tileRect r="-100000" b="-100000"/>
        </a:gradFill>
        <a:effectLst/>
      </p:bgPr>
    </p:bg>
    <p:spTree>
      <p:nvGrpSpPr>
        <p:cNvPr id="1" name="Shape 121"/>
        <p:cNvGrpSpPr/>
        <p:nvPr/>
      </p:nvGrpSpPr>
      <p:grpSpPr>
        <a:xfrm>
          <a:off x="0" y="0"/>
          <a:ext cx="0" cy="0"/>
          <a:chOff x="0" y="0"/>
          <a:chExt cx="0" cy="0"/>
        </a:xfrm>
      </p:grpSpPr>
      <p:sp>
        <p:nvSpPr>
          <p:cNvPr id="10" name="Google Shape;58;p13">
            <a:extLst>
              <a:ext uri="{FF2B5EF4-FFF2-40B4-BE49-F238E27FC236}">
                <a16:creationId xmlns:a16="http://schemas.microsoft.com/office/drawing/2014/main" id="{B8E26816-32A7-6359-9A3C-10FD75B5208E}"/>
              </a:ext>
            </a:extLst>
          </p:cNvPr>
          <p:cNvSpPr/>
          <p:nvPr/>
        </p:nvSpPr>
        <p:spPr>
          <a:xfrm>
            <a:off x="3056513" y="-7115"/>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9" name="Google Shape;58;p13">
            <a:extLst>
              <a:ext uri="{FF2B5EF4-FFF2-40B4-BE49-F238E27FC236}">
                <a16:creationId xmlns:a16="http://schemas.microsoft.com/office/drawing/2014/main" id="{674EE1E4-75D9-A8EC-ADFC-CBF2307C9E76}"/>
              </a:ext>
            </a:extLst>
          </p:cNvPr>
          <p:cNvSpPr/>
          <p:nvPr/>
        </p:nvSpPr>
        <p:spPr>
          <a:xfrm>
            <a:off x="2694510" y="-2906"/>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8" name="Google Shape;58;p13">
            <a:extLst>
              <a:ext uri="{FF2B5EF4-FFF2-40B4-BE49-F238E27FC236}">
                <a16:creationId xmlns:a16="http://schemas.microsoft.com/office/drawing/2014/main" id="{AB5D0F9D-B06E-F789-F3A6-D84B96BA4B32}"/>
              </a:ext>
            </a:extLst>
          </p:cNvPr>
          <p:cNvSpPr/>
          <p:nvPr/>
        </p:nvSpPr>
        <p:spPr>
          <a:xfrm>
            <a:off x="2246715" y="-2105"/>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8B2B02DF-FA68-D97E-68CF-F2D050993F1D}"/>
              </a:ext>
            </a:extLst>
          </p:cNvPr>
          <p:cNvSpPr/>
          <p:nvPr/>
        </p:nvSpPr>
        <p:spPr>
          <a:xfrm>
            <a:off x="1798920" y="2104"/>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3" name="Google Shape;58;p13">
            <a:extLst>
              <a:ext uri="{FF2B5EF4-FFF2-40B4-BE49-F238E27FC236}">
                <a16:creationId xmlns:a16="http://schemas.microsoft.com/office/drawing/2014/main" id="{A4BABBD6-D3B6-0DBE-BF23-2232966B9578}"/>
              </a:ext>
            </a:extLst>
          </p:cNvPr>
          <p:cNvSpPr/>
          <p:nvPr/>
        </p:nvSpPr>
        <p:spPr>
          <a:xfrm>
            <a:off x="1073673" y="-1"/>
            <a:ext cx="5825204" cy="5143501"/>
          </a:xfrm>
          <a:prstGeom prst="ellipse">
            <a:avLst/>
          </a:prstGeom>
          <a:solidFill>
            <a:srgbClr val="00187E"/>
          </a:solidFill>
          <a:ln>
            <a:noFill/>
          </a:ln>
        </p:spPr>
        <p:txBody>
          <a:bodyPr spcFirstLastPara="1" wrap="square" lIns="91425" tIns="91425" rIns="91425" bIns="91425" anchor="ctr" anchorCtr="0">
            <a:noAutofit/>
          </a:bodyPr>
          <a:lstStyle/>
          <a:p>
            <a:pPr lvl="0"/>
            <a:endParaRPr lang="en" b="1" dirty="0">
              <a:solidFill>
                <a:schemeClr val="bg1"/>
              </a:solidFill>
              <a:latin typeface="Impact"/>
              <a:ea typeface="Impact"/>
              <a:cs typeface="Impact"/>
              <a:sym typeface="Impact"/>
            </a:endParaRPr>
          </a:p>
        </p:txBody>
      </p:sp>
      <p:sp>
        <p:nvSpPr>
          <p:cNvPr id="4" name="TextBox 3">
            <a:extLst>
              <a:ext uri="{FF2B5EF4-FFF2-40B4-BE49-F238E27FC236}">
                <a16:creationId xmlns:a16="http://schemas.microsoft.com/office/drawing/2014/main" id="{8353AB62-B96B-80B7-8C01-C072700FE78B}"/>
              </a:ext>
            </a:extLst>
          </p:cNvPr>
          <p:cNvSpPr txBox="1"/>
          <p:nvPr/>
        </p:nvSpPr>
        <p:spPr>
          <a:xfrm>
            <a:off x="5481295" y="677321"/>
            <a:ext cx="729812"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
        <p:nvSpPr>
          <p:cNvPr id="122" name="Google Shape;122;p17"/>
          <p:cNvSpPr/>
          <p:nvPr/>
        </p:nvSpPr>
        <p:spPr>
          <a:xfrm>
            <a:off x="-339635" y="-1"/>
            <a:ext cx="6068290" cy="5143501"/>
          </a:xfrm>
          <a:prstGeom prst="ellipse">
            <a:avLst/>
          </a:prstGeom>
          <a:solidFill>
            <a:srgbClr val="07376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 sz="2700" b="1" i="0" u="none" strike="noStrike" kern="0" cap="none" spc="0" normalizeH="0" baseline="0" noProof="0" dirty="0">
              <a:ln>
                <a:noFill/>
              </a:ln>
              <a:solidFill>
                <a:srgbClr val="FFFFFF"/>
              </a:solidFill>
              <a:effectLst/>
              <a:uLnTx/>
              <a:uFillTx/>
              <a:latin typeface="Impact"/>
              <a:ea typeface="Impact"/>
              <a:cs typeface="Impact"/>
              <a:sym typeface="Impact"/>
            </a:endParaRPr>
          </a:p>
        </p:txBody>
      </p:sp>
      <p:sp>
        <p:nvSpPr>
          <p:cNvPr id="6" name="TextBox 5">
            <a:extLst>
              <a:ext uri="{FF2B5EF4-FFF2-40B4-BE49-F238E27FC236}">
                <a16:creationId xmlns:a16="http://schemas.microsoft.com/office/drawing/2014/main" id="{DC63597B-07C8-020F-9D14-498922058E99}"/>
              </a:ext>
            </a:extLst>
          </p:cNvPr>
          <p:cNvSpPr txBox="1"/>
          <p:nvPr/>
        </p:nvSpPr>
        <p:spPr>
          <a:xfrm>
            <a:off x="4256703" y="704678"/>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05</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2" name="TextBox 11">
            <a:extLst>
              <a:ext uri="{FF2B5EF4-FFF2-40B4-BE49-F238E27FC236}">
                <a16:creationId xmlns:a16="http://schemas.microsoft.com/office/drawing/2014/main" id="{3C37A3FF-4548-0C22-E353-587675C27E7C}"/>
              </a:ext>
            </a:extLst>
          </p:cNvPr>
          <p:cNvSpPr txBox="1"/>
          <p:nvPr/>
        </p:nvSpPr>
        <p:spPr>
          <a:xfrm>
            <a:off x="6274398" y="659606"/>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7</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3" name="TextBox 12">
            <a:extLst>
              <a:ext uri="{FF2B5EF4-FFF2-40B4-BE49-F238E27FC236}">
                <a16:creationId xmlns:a16="http://schemas.microsoft.com/office/drawing/2014/main" id="{884739B3-49A1-BB75-4E58-DB4F85378C02}"/>
              </a:ext>
            </a:extLst>
          </p:cNvPr>
          <p:cNvSpPr txBox="1"/>
          <p:nvPr/>
        </p:nvSpPr>
        <p:spPr>
          <a:xfrm>
            <a:off x="6828102" y="669627"/>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8</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pic>
        <p:nvPicPr>
          <p:cNvPr id="2" name="Picture 4" descr="What is the Difference Between Single Linked List and Double Linked List -  Pediaa.Com">
            <a:extLst>
              <a:ext uri="{FF2B5EF4-FFF2-40B4-BE49-F238E27FC236}">
                <a16:creationId xmlns:a16="http://schemas.microsoft.com/office/drawing/2014/main" id="{393C8164-82C2-2A77-F5D6-F91069311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5795" y="759655"/>
            <a:ext cx="2697430" cy="3805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4000">
              <a:schemeClr val="accent5">
                <a:lumMod val="75000"/>
              </a:schemeClr>
            </a:gs>
            <a:gs pos="10000">
              <a:schemeClr val="accent1">
                <a:lumMod val="60000"/>
                <a:lumOff val="40000"/>
              </a:schemeClr>
            </a:gs>
          </a:gsLst>
          <a:path path="circle">
            <a:fillToRect l="100000" t="100000"/>
          </a:path>
          <a:tileRect r="-100000" b="-100000"/>
        </a:gradFill>
        <a:effectLst/>
      </p:bgPr>
    </p:bg>
    <p:spTree>
      <p:nvGrpSpPr>
        <p:cNvPr id="1" name="Shape 121">
          <a:extLst>
            <a:ext uri="{FF2B5EF4-FFF2-40B4-BE49-F238E27FC236}">
              <a16:creationId xmlns:a16="http://schemas.microsoft.com/office/drawing/2014/main" id="{F9A2BBCF-9595-BE4D-369A-52BB03963C54}"/>
            </a:ext>
          </a:extLst>
        </p:cNvPr>
        <p:cNvGrpSpPr/>
        <p:nvPr/>
      </p:nvGrpSpPr>
      <p:grpSpPr>
        <a:xfrm>
          <a:off x="0" y="0"/>
          <a:ext cx="0" cy="0"/>
          <a:chOff x="0" y="0"/>
          <a:chExt cx="0" cy="0"/>
        </a:xfrm>
      </p:grpSpPr>
      <p:sp>
        <p:nvSpPr>
          <p:cNvPr id="11" name="Google Shape;58;p13">
            <a:extLst>
              <a:ext uri="{FF2B5EF4-FFF2-40B4-BE49-F238E27FC236}">
                <a16:creationId xmlns:a16="http://schemas.microsoft.com/office/drawing/2014/main" id="{581BBEA4-3893-E6DC-7464-E1DD30FD234D}"/>
              </a:ext>
            </a:extLst>
          </p:cNvPr>
          <p:cNvSpPr/>
          <p:nvPr/>
        </p:nvSpPr>
        <p:spPr>
          <a:xfrm>
            <a:off x="3756268" y="5010"/>
            <a:ext cx="5724300" cy="5143500"/>
          </a:xfrm>
          <a:prstGeom prst="ellipse">
            <a:avLst/>
          </a:prstGeom>
          <a:solidFill>
            <a:srgbClr val="144F62"/>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0" name="Google Shape;58;p13">
            <a:extLst>
              <a:ext uri="{FF2B5EF4-FFF2-40B4-BE49-F238E27FC236}">
                <a16:creationId xmlns:a16="http://schemas.microsoft.com/office/drawing/2014/main" id="{956C8976-4151-741E-66E8-5B4101FE3ED0}"/>
              </a:ext>
            </a:extLst>
          </p:cNvPr>
          <p:cNvSpPr/>
          <p:nvPr/>
        </p:nvSpPr>
        <p:spPr>
          <a:xfrm>
            <a:off x="3196023" y="-14229"/>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9" name="Google Shape;58;p13">
            <a:extLst>
              <a:ext uri="{FF2B5EF4-FFF2-40B4-BE49-F238E27FC236}">
                <a16:creationId xmlns:a16="http://schemas.microsoft.com/office/drawing/2014/main" id="{933FF5E0-9BE9-9E87-9332-4B6E38967E91}"/>
              </a:ext>
            </a:extLst>
          </p:cNvPr>
          <p:cNvSpPr/>
          <p:nvPr/>
        </p:nvSpPr>
        <p:spPr>
          <a:xfrm>
            <a:off x="2694510" y="-9219"/>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8" name="Google Shape;58;p13">
            <a:extLst>
              <a:ext uri="{FF2B5EF4-FFF2-40B4-BE49-F238E27FC236}">
                <a16:creationId xmlns:a16="http://schemas.microsoft.com/office/drawing/2014/main" id="{CDC59F0E-89CC-80E6-69DB-67E164473AF8}"/>
              </a:ext>
            </a:extLst>
          </p:cNvPr>
          <p:cNvSpPr/>
          <p:nvPr/>
        </p:nvSpPr>
        <p:spPr>
          <a:xfrm>
            <a:off x="2074756" y="7114"/>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26FB0A56-7DF4-D5EA-C72F-0AC20918E840}"/>
              </a:ext>
            </a:extLst>
          </p:cNvPr>
          <p:cNvSpPr/>
          <p:nvPr/>
        </p:nvSpPr>
        <p:spPr>
          <a:xfrm>
            <a:off x="1344944" y="2104"/>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3" name="Google Shape;58;p13">
            <a:extLst>
              <a:ext uri="{FF2B5EF4-FFF2-40B4-BE49-F238E27FC236}">
                <a16:creationId xmlns:a16="http://schemas.microsoft.com/office/drawing/2014/main" id="{3455DD75-0836-9626-6E96-C19BF3D0A14B}"/>
              </a:ext>
            </a:extLst>
          </p:cNvPr>
          <p:cNvSpPr/>
          <p:nvPr/>
        </p:nvSpPr>
        <p:spPr>
          <a:xfrm>
            <a:off x="0" y="-1"/>
            <a:ext cx="5825204" cy="5143501"/>
          </a:xfrm>
          <a:prstGeom prst="ellipse">
            <a:avLst/>
          </a:prstGeom>
          <a:solidFill>
            <a:srgbClr val="00187E"/>
          </a:solidFill>
          <a:ln>
            <a:noFill/>
          </a:ln>
        </p:spPr>
        <p:txBody>
          <a:bodyPr spcFirstLastPara="1" wrap="square" lIns="91425" tIns="91425" rIns="91425" bIns="91425" anchor="ctr" anchorCtr="0">
            <a:noAutofit/>
          </a:bodyPr>
          <a:lstStyle/>
          <a:p>
            <a:pPr lvl="0"/>
            <a:endParaRPr lang="en" b="1" dirty="0">
              <a:solidFill>
                <a:schemeClr val="bg1"/>
              </a:solidFill>
              <a:latin typeface="Impact"/>
              <a:ea typeface="Impact"/>
              <a:cs typeface="Impact"/>
              <a:sym typeface="Impact"/>
            </a:endParaRPr>
          </a:p>
        </p:txBody>
      </p:sp>
      <p:sp>
        <p:nvSpPr>
          <p:cNvPr id="4" name="TextBox 3">
            <a:extLst>
              <a:ext uri="{FF2B5EF4-FFF2-40B4-BE49-F238E27FC236}">
                <a16:creationId xmlns:a16="http://schemas.microsoft.com/office/drawing/2014/main" id="{034FD209-F86F-8BA3-34F0-CA132381248B}"/>
              </a:ext>
            </a:extLst>
          </p:cNvPr>
          <p:cNvSpPr txBox="1"/>
          <p:nvPr/>
        </p:nvSpPr>
        <p:spPr>
          <a:xfrm>
            <a:off x="4207094" y="695747"/>
            <a:ext cx="729812"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06.</a:t>
            </a:r>
          </a:p>
        </p:txBody>
      </p:sp>
      <p:sp>
        <p:nvSpPr>
          <p:cNvPr id="12" name="TextBox 11">
            <a:extLst>
              <a:ext uri="{FF2B5EF4-FFF2-40B4-BE49-F238E27FC236}">
                <a16:creationId xmlns:a16="http://schemas.microsoft.com/office/drawing/2014/main" id="{E25EE6E3-78B4-DB87-77EC-A3B21489CECB}"/>
              </a:ext>
            </a:extLst>
          </p:cNvPr>
          <p:cNvSpPr txBox="1"/>
          <p:nvPr/>
        </p:nvSpPr>
        <p:spPr>
          <a:xfrm>
            <a:off x="5659314" y="669627"/>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7</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3" name="TextBox 12">
            <a:extLst>
              <a:ext uri="{FF2B5EF4-FFF2-40B4-BE49-F238E27FC236}">
                <a16:creationId xmlns:a16="http://schemas.microsoft.com/office/drawing/2014/main" id="{D4F449F4-FDCD-26E0-767C-62F3A1392D77}"/>
              </a:ext>
            </a:extLst>
          </p:cNvPr>
          <p:cNvSpPr txBox="1"/>
          <p:nvPr/>
        </p:nvSpPr>
        <p:spPr>
          <a:xfrm>
            <a:off x="6618418" y="695747"/>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8</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5" name="TextBox 14">
            <a:extLst>
              <a:ext uri="{FF2B5EF4-FFF2-40B4-BE49-F238E27FC236}">
                <a16:creationId xmlns:a16="http://schemas.microsoft.com/office/drawing/2014/main" id="{EF0C37E1-EBE5-0762-9E23-8B1CAF24C9DE}"/>
              </a:ext>
            </a:extLst>
          </p:cNvPr>
          <p:cNvSpPr txBox="1"/>
          <p:nvPr/>
        </p:nvSpPr>
        <p:spPr>
          <a:xfrm>
            <a:off x="7264104" y="695747"/>
            <a:ext cx="64589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09</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2" name="TextBox 1">
            <a:extLst>
              <a:ext uri="{FF2B5EF4-FFF2-40B4-BE49-F238E27FC236}">
                <a16:creationId xmlns:a16="http://schemas.microsoft.com/office/drawing/2014/main" id="{7B4D6964-7B1A-79D7-D764-C30AF30CD609}"/>
              </a:ext>
            </a:extLst>
          </p:cNvPr>
          <p:cNvSpPr txBox="1"/>
          <p:nvPr/>
        </p:nvSpPr>
        <p:spPr>
          <a:xfrm>
            <a:off x="1344944" y="731182"/>
            <a:ext cx="2704455" cy="400110"/>
          </a:xfrm>
          <a:prstGeom prst="rect">
            <a:avLst/>
          </a:prstGeom>
          <a:noFill/>
        </p:spPr>
        <p:txBody>
          <a:bodyPr wrap="square" rtlCol="0">
            <a:spAutoFit/>
          </a:bodyPr>
          <a:lstStyle/>
          <a:p>
            <a:r>
              <a:rPr lang="en-US" sz="2000" dirty="0">
                <a:solidFill>
                  <a:schemeClr val="bg1"/>
                </a:solidFill>
                <a:latin typeface="Oswald SemiBold" panose="00000700000000000000" pitchFamily="2" charset="0"/>
              </a:rPr>
              <a:t>Real World Applications:</a:t>
            </a:r>
            <a:endParaRPr lang="en-IN" sz="2000" dirty="0">
              <a:solidFill>
                <a:schemeClr val="bg1"/>
              </a:solidFill>
              <a:latin typeface="Oswald SemiBold" panose="00000700000000000000" pitchFamily="2" charset="0"/>
            </a:endParaRPr>
          </a:p>
        </p:txBody>
      </p:sp>
      <p:sp>
        <p:nvSpPr>
          <p:cNvPr id="5" name="TextBox 4">
            <a:extLst>
              <a:ext uri="{FF2B5EF4-FFF2-40B4-BE49-F238E27FC236}">
                <a16:creationId xmlns:a16="http://schemas.microsoft.com/office/drawing/2014/main" id="{F553371B-2E99-BEB0-DCBE-99FC9EA8CF54}"/>
              </a:ext>
            </a:extLst>
          </p:cNvPr>
          <p:cNvSpPr txBox="1"/>
          <p:nvPr/>
        </p:nvSpPr>
        <p:spPr>
          <a:xfrm>
            <a:off x="1323810" y="1192847"/>
            <a:ext cx="2883284"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latin typeface="Oswald SemiBold" panose="00000700000000000000" pitchFamily="2" charset="0"/>
              </a:rPr>
              <a:t>Undo/Redo in text editors</a:t>
            </a:r>
          </a:p>
          <a:p>
            <a:pPr marL="285750" indent="-285750">
              <a:buFont typeface="Arial" panose="020B0604020202020204" pitchFamily="34" charset="0"/>
              <a:buChar char="•"/>
            </a:pPr>
            <a:r>
              <a:rPr lang="en-US" sz="1600" dirty="0">
                <a:solidFill>
                  <a:schemeClr val="bg1"/>
                </a:solidFill>
                <a:latin typeface="Oswald SemiBold" panose="00000700000000000000" pitchFamily="2" charset="0"/>
              </a:rPr>
              <a:t>Browser back &amp; forward buttons</a:t>
            </a:r>
          </a:p>
          <a:p>
            <a:pPr marL="285750" indent="-285750">
              <a:buFont typeface="Arial" panose="020B0604020202020204" pitchFamily="34" charset="0"/>
              <a:buChar char="•"/>
            </a:pPr>
            <a:r>
              <a:rPr lang="en-US" sz="1600" dirty="0">
                <a:solidFill>
                  <a:schemeClr val="bg1"/>
                </a:solidFill>
                <a:latin typeface="Oswald SemiBold" panose="00000700000000000000" pitchFamily="2" charset="0"/>
              </a:rPr>
              <a:t>Image viewers (next/previous)</a:t>
            </a:r>
          </a:p>
          <a:p>
            <a:pPr marL="285750" indent="-285750">
              <a:buFont typeface="Arial" panose="020B0604020202020204" pitchFamily="34" charset="0"/>
              <a:buChar char="•"/>
            </a:pPr>
            <a:r>
              <a:rPr lang="en-US" sz="1600" dirty="0">
                <a:solidFill>
                  <a:schemeClr val="bg1"/>
                </a:solidFill>
                <a:latin typeface="Oswald SemiBold" panose="00000700000000000000" pitchFamily="2" charset="0"/>
              </a:rPr>
              <a:t>LRU Cache implementation</a:t>
            </a:r>
            <a:endParaRPr lang="en-IN" sz="1600" dirty="0">
              <a:solidFill>
                <a:schemeClr val="bg1"/>
              </a:solidFill>
              <a:latin typeface="Oswald SemiBold" panose="00000700000000000000" pitchFamily="2" charset="0"/>
            </a:endParaRPr>
          </a:p>
        </p:txBody>
      </p:sp>
      <p:pic>
        <p:nvPicPr>
          <p:cNvPr id="6" name="Picture 7" descr="Singly Linked List: Operations &amp; Use Cases">
            <a:extLst>
              <a:ext uri="{FF2B5EF4-FFF2-40B4-BE49-F238E27FC236}">
                <a16:creationId xmlns:a16="http://schemas.microsoft.com/office/drawing/2014/main" id="{D919A2A1-268D-90CC-1278-4DF745C956C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l="13667" t="7260" r="12658" b="8672"/>
          <a:stretch>
            <a:fillRect/>
          </a:stretch>
        </p:blipFill>
        <p:spPr bwMode="auto">
          <a:xfrm>
            <a:off x="1573243" y="2824062"/>
            <a:ext cx="2633851" cy="157259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295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4000">
              <a:schemeClr val="accent5">
                <a:lumMod val="75000"/>
              </a:schemeClr>
            </a:gs>
            <a:gs pos="10000">
              <a:schemeClr val="accent1">
                <a:lumMod val="60000"/>
                <a:lumOff val="40000"/>
              </a:schemeClr>
            </a:gs>
          </a:gsLst>
          <a:path path="circle">
            <a:fillToRect l="100000" t="100000"/>
          </a:path>
          <a:tileRect r="-100000" b="-100000"/>
        </a:gradFill>
        <a:effectLst/>
      </p:bgPr>
    </p:bg>
    <p:spTree>
      <p:nvGrpSpPr>
        <p:cNvPr id="1" name="Shape 121">
          <a:extLst>
            <a:ext uri="{FF2B5EF4-FFF2-40B4-BE49-F238E27FC236}">
              <a16:creationId xmlns:a16="http://schemas.microsoft.com/office/drawing/2014/main" id="{7E5ACFAD-376A-743F-165A-C7515320F4CC}"/>
            </a:ext>
          </a:extLst>
        </p:cNvPr>
        <p:cNvGrpSpPr/>
        <p:nvPr/>
      </p:nvGrpSpPr>
      <p:grpSpPr>
        <a:xfrm>
          <a:off x="0" y="0"/>
          <a:ext cx="0" cy="0"/>
          <a:chOff x="0" y="0"/>
          <a:chExt cx="0" cy="0"/>
        </a:xfrm>
      </p:grpSpPr>
      <p:sp>
        <p:nvSpPr>
          <p:cNvPr id="10" name="Google Shape;58;p13">
            <a:extLst>
              <a:ext uri="{FF2B5EF4-FFF2-40B4-BE49-F238E27FC236}">
                <a16:creationId xmlns:a16="http://schemas.microsoft.com/office/drawing/2014/main" id="{D3174166-278C-75C6-4DC6-05340A081B18}"/>
              </a:ext>
            </a:extLst>
          </p:cNvPr>
          <p:cNvSpPr/>
          <p:nvPr/>
        </p:nvSpPr>
        <p:spPr>
          <a:xfrm>
            <a:off x="3437626" y="12124"/>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9" name="Google Shape;58;p13">
            <a:extLst>
              <a:ext uri="{FF2B5EF4-FFF2-40B4-BE49-F238E27FC236}">
                <a16:creationId xmlns:a16="http://schemas.microsoft.com/office/drawing/2014/main" id="{BE79B029-F022-A6B8-FF11-8D41F314E27B}"/>
              </a:ext>
            </a:extLst>
          </p:cNvPr>
          <p:cNvSpPr/>
          <p:nvPr/>
        </p:nvSpPr>
        <p:spPr>
          <a:xfrm>
            <a:off x="2074756" y="-9219"/>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8" name="Google Shape;58;p13">
            <a:extLst>
              <a:ext uri="{FF2B5EF4-FFF2-40B4-BE49-F238E27FC236}">
                <a16:creationId xmlns:a16="http://schemas.microsoft.com/office/drawing/2014/main" id="{6A25B829-2443-A1F8-BBEA-2FB55C6E541B}"/>
              </a:ext>
            </a:extLst>
          </p:cNvPr>
          <p:cNvSpPr/>
          <p:nvPr/>
        </p:nvSpPr>
        <p:spPr>
          <a:xfrm>
            <a:off x="478046" y="7114"/>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7" name="Google Shape;58;p13">
            <a:extLst>
              <a:ext uri="{FF2B5EF4-FFF2-40B4-BE49-F238E27FC236}">
                <a16:creationId xmlns:a16="http://schemas.microsoft.com/office/drawing/2014/main" id="{656E1B37-9B09-9FEF-49BC-F05C4942D9C1}"/>
              </a:ext>
            </a:extLst>
          </p:cNvPr>
          <p:cNvSpPr/>
          <p:nvPr/>
        </p:nvSpPr>
        <p:spPr>
          <a:xfrm>
            <a:off x="-787394" y="2104"/>
            <a:ext cx="5724300" cy="5143500"/>
          </a:xfrm>
          <a:prstGeom prst="ellipse">
            <a:avLst/>
          </a:prstGeom>
          <a:solidFill>
            <a:srgbClr val="001364"/>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2" name="TextBox 11">
            <a:extLst>
              <a:ext uri="{FF2B5EF4-FFF2-40B4-BE49-F238E27FC236}">
                <a16:creationId xmlns:a16="http://schemas.microsoft.com/office/drawing/2014/main" id="{6EED9014-47C6-9B1B-4FF8-849C3F502EC1}"/>
              </a:ext>
            </a:extLst>
          </p:cNvPr>
          <p:cNvSpPr txBox="1"/>
          <p:nvPr/>
        </p:nvSpPr>
        <p:spPr>
          <a:xfrm>
            <a:off x="3526976" y="669627"/>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7</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3" name="TextBox 12">
            <a:extLst>
              <a:ext uri="{FF2B5EF4-FFF2-40B4-BE49-F238E27FC236}">
                <a16:creationId xmlns:a16="http://schemas.microsoft.com/office/drawing/2014/main" id="{2E432B59-7DB4-BA7B-BF6A-49725CD4B79D}"/>
              </a:ext>
            </a:extLst>
          </p:cNvPr>
          <p:cNvSpPr txBox="1"/>
          <p:nvPr/>
        </p:nvSpPr>
        <p:spPr>
          <a:xfrm>
            <a:off x="4871749" y="695747"/>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8</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5" name="TextBox 14">
            <a:extLst>
              <a:ext uri="{FF2B5EF4-FFF2-40B4-BE49-F238E27FC236}">
                <a16:creationId xmlns:a16="http://schemas.microsoft.com/office/drawing/2014/main" id="{C38F817F-6736-7E4A-9CF6-669EEB15702B}"/>
              </a:ext>
            </a:extLst>
          </p:cNvPr>
          <p:cNvSpPr txBox="1"/>
          <p:nvPr/>
        </p:nvSpPr>
        <p:spPr>
          <a:xfrm>
            <a:off x="6397206" y="697859"/>
            <a:ext cx="64589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09</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5" name="TextBox 4">
            <a:extLst>
              <a:ext uri="{FF2B5EF4-FFF2-40B4-BE49-F238E27FC236}">
                <a16:creationId xmlns:a16="http://schemas.microsoft.com/office/drawing/2014/main" id="{F95625C0-A7E6-3B35-E7AA-1453FE632603}"/>
              </a:ext>
            </a:extLst>
          </p:cNvPr>
          <p:cNvSpPr txBox="1"/>
          <p:nvPr/>
        </p:nvSpPr>
        <p:spPr>
          <a:xfrm>
            <a:off x="7860329" y="711136"/>
            <a:ext cx="5904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10.</a:t>
            </a:r>
          </a:p>
        </p:txBody>
      </p:sp>
      <p:sp>
        <p:nvSpPr>
          <p:cNvPr id="16" name="TextBox 15">
            <a:extLst>
              <a:ext uri="{FF2B5EF4-FFF2-40B4-BE49-F238E27FC236}">
                <a16:creationId xmlns:a16="http://schemas.microsoft.com/office/drawing/2014/main" id="{F7F0FA9A-9A08-0D7F-B338-AF6EA90BEC79}"/>
              </a:ext>
            </a:extLst>
          </p:cNvPr>
          <p:cNvSpPr txBox="1"/>
          <p:nvPr/>
        </p:nvSpPr>
        <p:spPr>
          <a:xfrm>
            <a:off x="292318" y="1634704"/>
            <a:ext cx="3564875" cy="2462213"/>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Oswald SemiBold" panose="00000700000000000000" pitchFamily="2" charset="0"/>
              </a:rPr>
              <a:t>It uses extra memory when compared to the array and singly linked list.</a:t>
            </a:r>
          </a:p>
          <a:p>
            <a:pPr marL="285750" indent="-285750">
              <a:buFont typeface="Arial" panose="020B0604020202020204" pitchFamily="34" charset="0"/>
              <a:buChar char="•"/>
            </a:pPr>
            <a:r>
              <a:rPr lang="en-US" dirty="0">
                <a:solidFill>
                  <a:schemeClr val="bg1"/>
                </a:solidFill>
                <a:latin typeface="Oswald SemiBold" panose="00000700000000000000" pitchFamily="2" charset="0"/>
              </a:rPr>
              <a:t>Since elements in memory are stored randomly, therefore the elements are accessed sequentially no direct access is allowed.</a:t>
            </a:r>
          </a:p>
          <a:p>
            <a:pPr marL="285750" indent="-285750">
              <a:buFont typeface="Arial" panose="020B0604020202020204" pitchFamily="34" charset="0"/>
              <a:buChar char="•"/>
            </a:pPr>
            <a:r>
              <a:rPr lang="en-US" dirty="0">
                <a:solidFill>
                  <a:schemeClr val="bg1"/>
                </a:solidFill>
                <a:latin typeface="Oswald SemiBold" panose="00000700000000000000" pitchFamily="2" charset="0"/>
              </a:rPr>
              <a:t>Traversing a doubly linked list can be slower than traversing a singly linked list.</a:t>
            </a:r>
          </a:p>
          <a:p>
            <a:pPr marL="285750" indent="-285750">
              <a:buFont typeface="Arial" panose="020B0604020202020204" pitchFamily="34" charset="0"/>
              <a:buChar char="•"/>
            </a:pPr>
            <a:r>
              <a:rPr lang="en-US" dirty="0">
                <a:solidFill>
                  <a:schemeClr val="bg1"/>
                </a:solidFill>
                <a:latin typeface="Oswald SemiBold" panose="00000700000000000000" pitchFamily="2" charset="0"/>
              </a:rPr>
              <a:t>Implementing and maintaining doubly linked lists can be more complex than singly linked lists.</a:t>
            </a:r>
          </a:p>
        </p:txBody>
      </p:sp>
      <p:sp>
        <p:nvSpPr>
          <p:cNvPr id="17" name="TextBox 16">
            <a:extLst>
              <a:ext uri="{FF2B5EF4-FFF2-40B4-BE49-F238E27FC236}">
                <a16:creationId xmlns:a16="http://schemas.microsoft.com/office/drawing/2014/main" id="{3B70CF05-A11D-AB5D-6C52-F2401279662F}"/>
              </a:ext>
            </a:extLst>
          </p:cNvPr>
          <p:cNvSpPr txBox="1"/>
          <p:nvPr/>
        </p:nvSpPr>
        <p:spPr>
          <a:xfrm>
            <a:off x="97458" y="865024"/>
            <a:ext cx="3564875" cy="707886"/>
          </a:xfrm>
          <a:prstGeom prst="rect">
            <a:avLst/>
          </a:prstGeom>
          <a:noFill/>
        </p:spPr>
        <p:txBody>
          <a:bodyPr wrap="square" rtlCol="0">
            <a:spAutoFit/>
          </a:bodyPr>
          <a:lstStyle/>
          <a:p>
            <a:r>
              <a:rPr lang="en-US" sz="2000" dirty="0">
                <a:solidFill>
                  <a:schemeClr val="bg1">
                    <a:lumMod val="85000"/>
                  </a:schemeClr>
                </a:solidFill>
                <a:latin typeface="Oswald SemiBold" panose="00000700000000000000" pitchFamily="2" charset="0"/>
              </a:rPr>
              <a:t>Disadvantages of Doubly Linked Lists:</a:t>
            </a:r>
            <a:endParaRPr lang="en-IN" sz="2000" dirty="0">
              <a:solidFill>
                <a:schemeClr val="bg1">
                  <a:lumMod val="85000"/>
                </a:schemeClr>
              </a:solidFill>
              <a:latin typeface="Oswald SemiBold" panose="00000700000000000000" pitchFamily="2" charset="0"/>
            </a:endParaRPr>
          </a:p>
        </p:txBody>
      </p:sp>
    </p:spTree>
    <p:extLst>
      <p:ext uri="{BB962C8B-B14F-4D97-AF65-F5344CB8AC3E}">
        <p14:creationId xmlns:p14="http://schemas.microsoft.com/office/powerpoint/2010/main" val="1423588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4000">
              <a:schemeClr val="accent5">
                <a:lumMod val="75000"/>
              </a:schemeClr>
            </a:gs>
            <a:gs pos="10000">
              <a:schemeClr val="accent1">
                <a:lumMod val="60000"/>
                <a:lumOff val="40000"/>
              </a:schemeClr>
            </a:gs>
          </a:gsLst>
          <a:path path="circle">
            <a:fillToRect l="100000" t="100000"/>
          </a:path>
          <a:tileRect r="-100000" b="-100000"/>
        </a:gradFill>
        <a:effectLst/>
      </p:bgPr>
    </p:bg>
    <p:spTree>
      <p:nvGrpSpPr>
        <p:cNvPr id="1" name="Shape 121">
          <a:extLst>
            <a:ext uri="{FF2B5EF4-FFF2-40B4-BE49-F238E27FC236}">
              <a16:creationId xmlns:a16="http://schemas.microsoft.com/office/drawing/2014/main" id="{5FAD599D-043E-8AA5-B7D3-78AE54C4E7E2}"/>
            </a:ext>
          </a:extLst>
        </p:cNvPr>
        <p:cNvGrpSpPr/>
        <p:nvPr/>
      </p:nvGrpSpPr>
      <p:grpSpPr>
        <a:xfrm>
          <a:off x="0" y="0"/>
          <a:ext cx="0" cy="0"/>
          <a:chOff x="0" y="0"/>
          <a:chExt cx="0" cy="0"/>
        </a:xfrm>
      </p:grpSpPr>
      <p:sp>
        <p:nvSpPr>
          <p:cNvPr id="10" name="Google Shape;58;p13">
            <a:extLst>
              <a:ext uri="{FF2B5EF4-FFF2-40B4-BE49-F238E27FC236}">
                <a16:creationId xmlns:a16="http://schemas.microsoft.com/office/drawing/2014/main" id="{6AE69740-3E1B-3D71-6477-72B8E5084C27}"/>
              </a:ext>
            </a:extLst>
          </p:cNvPr>
          <p:cNvSpPr/>
          <p:nvPr/>
        </p:nvSpPr>
        <p:spPr>
          <a:xfrm>
            <a:off x="3419700" y="21343"/>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9" name="Google Shape;58;p13">
            <a:extLst>
              <a:ext uri="{FF2B5EF4-FFF2-40B4-BE49-F238E27FC236}">
                <a16:creationId xmlns:a16="http://schemas.microsoft.com/office/drawing/2014/main" id="{958040B9-C150-8EA0-7EEB-F47D437EB8F5}"/>
              </a:ext>
            </a:extLst>
          </p:cNvPr>
          <p:cNvSpPr/>
          <p:nvPr/>
        </p:nvSpPr>
        <p:spPr>
          <a:xfrm>
            <a:off x="2056830" y="0"/>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8" name="Google Shape;58;p13">
            <a:extLst>
              <a:ext uri="{FF2B5EF4-FFF2-40B4-BE49-F238E27FC236}">
                <a16:creationId xmlns:a16="http://schemas.microsoft.com/office/drawing/2014/main" id="{EF2BBAC3-AEC7-F313-38B3-F10B4C7D03EF}"/>
              </a:ext>
            </a:extLst>
          </p:cNvPr>
          <p:cNvSpPr/>
          <p:nvPr/>
        </p:nvSpPr>
        <p:spPr>
          <a:xfrm>
            <a:off x="460120" y="16333"/>
            <a:ext cx="5724300" cy="5143500"/>
          </a:xfrm>
          <a:prstGeom prst="ellipse">
            <a:avLst/>
          </a:prstGeom>
          <a:solidFill>
            <a:srgbClr val="2184A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3" name="TextBox 12">
            <a:extLst>
              <a:ext uri="{FF2B5EF4-FFF2-40B4-BE49-F238E27FC236}">
                <a16:creationId xmlns:a16="http://schemas.microsoft.com/office/drawing/2014/main" id="{4C1D9A39-0CBF-DD3A-5FB9-129FC500DC7B}"/>
              </a:ext>
            </a:extLst>
          </p:cNvPr>
          <p:cNvSpPr txBox="1"/>
          <p:nvPr/>
        </p:nvSpPr>
        <p:spPr>
          <a:xfrm>
            <a:off x="4853823" y="704966"/>
            <a:ext cx="63182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a:t>
            </a:r>
            <a:r>
              <a:rPr lang="en" sz="2800" b="1" dirty="0">
                <a:solidFill>
                  <a:srgbClr val="FFFFFF"/>
                </a:solidFill>
                <a:latin typeface="Impact"/>
                <a:ea typeface="Impact"/>
                <a:cs typeface="Impact"/>
                <a:sym typeface="Impact"/>
              </a:rPr>
              <a:t>8</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15" name="TextBox 14">
            <a:extLst>
              <a:ext uri="{FF2B5EF4-FFF2-40B4-BE49-F238E27FC236}">
                <a16:creationId xmlns:a16="http://schemas.microsoft.com/office/drawing/2014/main" id="{D9299296-F336-1BB2-431C-9A8669ECA468}"/>
              </a:ext>
            </a:extLst>
          </p:cNvPr>
          <p:cNvSpPr txBox="1"/>
          <p:nvPr/>
        </p:nvSpPr>
        <p:spPr>
          <a:xfrm>
            <a:off x="6379280" y="707078"/>
            <a:ext cx="64589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09</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5" name="TextBox 4">
            <a:extLst>
              <a:ext uri="{FF2B5EF4-FFF2-40B4-BE49-F238E27FC236}">
                <a16:creationId xmlns:a16="http://schemas.microsoft.com/office/drawing/2014/main" id="{F2E40612-6E19-811D-98A8-0DB498EBDBBF}"/>
              </a:ext>
            </a:extLst>
          </p:cNvPr>
          <p:cNvSpPr txBox="1"/>
          <p:nvPr/>
        </p:nvSpPr>
        <p:spPr>
          <a:xfrm>
            <a:off x="7842403" y="720355"/>
            <a:ext cx="5904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10.</a:t>
            </a:r>
          </a:p>
        </p:txBody>
      </p:sp>
      <p:sp>
        <p:nvSpPr>
          <p:cNvPr id="2" name="TextBox 1">
            <a:extLst>
              <a:ext uri="{FF2B5EF4-FFF2-40B4-BE49-F238E27FC236}">
                <a16:creationId xmlns:a16="http://schemas.microsoft.com/office/drawing/2014/main" id="{F2C59260-E657-34A7-47FC-BB5310264953}"/>
              </a:ext>
            </a:extLst>
          </p:cNvPr>
          <p:cNvSpPr txBox="1"/>
          <p:nvPr/>
        </p:nvSpPr>
        <p:spPr>
          <a:xfrm>
            <a:off x="1228892" y="1809884"/>
            <a:ext cx="3624931" cy="1754326"/>
          </a:xfrm>
          <a:prstGeom prst="rect">
            <a:avLst/>
          </a:prstGeom>
          <a:noFill/>
        </p:spPr>
        <p:txBody>
          <a:bodyPr wrap="square" rtlCol="0">
            <a:spAutoFit/>
          </a:bodyPr>
          <a:lstStyle/>
          <a:p>
            <a:pPr>
              <a:buNone/>
            </a:pPr>
            <a:r>
              <a:rPr lang="en-US" sz="1800" dirty="0">
                <a:solidFill>
                  <a:schemeClr val="bg1"/>
                </a:solidFill>
                <a:latin typeface="Oswald SemiBold" panose="00000700000000000000" pitchFamily="2" charset="0"/>
              </a:rPr>
              <a:t>Common operations include:</a:t>
            </a:r>
          </a:p>
          <a:p>
            <a:pPr>
              <a:buFont typeface="Arial" panose="020B0604020202020204" pitchFamily="34" charset="0"/>
              <a:buChar char="•"/>
            </a:pPr>
            <a:r>
              <a:rPr lang="en-US" sz="1800" dirty="0">
                <a:solidFill>
                  <a:schemeClr val="bg1"/>
                </a:solidFill>
                <a:latin typeface="Oswald SemiBold" panose="00000700000000000000" pitchFamily="2" charset="0"/>
              </a:rPr>
              <a:t>Insertion at beginning</a:t>
            </a:r>
          </a:p>
          <a:p>
            <a:pPr>
              <a:buFont typeface="Arial" panose="020B0604020202020204" pitchFamily="34" charset="0"/>
              <a:buChar char="•"/>
            </a:pPr>
            <a:r>
              <a:rPr lang="en-US" sz="1800" dirty="0">
                <a:solidFill>
                  <a:schemeClr val="bg1"/>
                </a:solidFill>
                <a:latin typeface="Oswald SemiBold" panose="00000700000000000000" pitchFamily="2" charset="0"/>
              </a:rPr>
              <a:t>Insertion at end</a:t>
            </a:r>
          </a:p>
          <a:p>
            <a:pPr>
              <a:buFont typeface="Arial" panose="020B0604020202020204" pitchFamily="34" charset="0"/>
              <a:buChar char="•"/>
            </a:pPr>
            <a:r>
              <a:rPr lang="en-US" sz="1800" dirty="0">
                <a:solidFill>
                  <a:schemeClr val="bg1"/>
                </a:solidFill>
                <a:latin typeface="Oswald SemiBold" panose="00000700000000000000" pitchFamily="2" charset="0"/>
              </a:rPr>
              <a:t>Deletion of node</a:t>
            </a:r>
          </a:p>
          <a:p>
            <a:pPr>
              <a:buFont typeface="Arial" panose="020B0604020202020204" pitchFamily="34" charset="0"/>
              <a:buChar char="•"/>
            </a:pPr>
            <a:r>
              <a:rPr lang="en-US" sz="1800" dirty="0">
                <a:solidFill>
                  <a:schemeClr val="bg1"/>
                </a:solidFill>
                <a:latin typeface="Oswald SemiBold" panose="00000700000000000000" pitchFamily="2" charset="0"/>
              </a:rPr>
              <a:t>Traversal (forward &amp; backward)</a:t>
            </a:r>
          </a:p>
          <a:p>
            <a:pPr>
              <a:buFont typeface="Arial" panose="020B0604020202020204" pitchFamily="34" charset="0"/>
              <a:buChar char="•"/>
            </a:pPr>
            <a:r>
              <a:rPr lang="en-US" sz="1800" dirty="0">
                <a:solidFill>
                  <a:schemeClr val="bg1"/>
                </a:solidFill>
                <a:latin typeface="Oswald SemiBold" panose="00000700000000000000" pitchFamily="2" charset="0"/>
              </a:rPr>
              <a:t>Searching</a:t>
            </a:r>
          </a:p>
        </p:txBody>
      </p:sp>
      <p:sp>
        <p:nvSpPr>
          <p:cNvPr id="4" name="TextBox 3">
            <a:extLst>
              <a:ext uri="{FF2B5EF4-FFF2-40B4-BE49-F238E27FC236}">
                <a16:creationId xmlns:a16="http://schemas.microsoft.com/office/drawing/2014/main" id="{927D01E4-A3FF-30C2-FDDD-D921D4CB1CF6}"/>
              </a:ext>
            </a:extLst>
          </p:cNvPr>
          <p:cNvSpPr txBox="1"/>
          <p:nvPr/>
        </p:nvSpPr>
        <p:spPr>
          <a:xfrm>
            <a:off x="1228892" y="1106499"/>
            <a:ext cx="3430071" cy="707886"/>
          </a:xfrm>
          <a:prstGeom prst="rect">
            <a:avLst/>
          </a:prstGeom>
          <a:noFill/>
        </p:spPr>
        <p:txBody>
          <a:bodyPr wrap="square" rtlCol="0">
            <a:spAutoFit/>
          </a:bodyPr>
          <a:lstStyle/>
          <a:p>
            <a:r>
              <a:rPr lang="en-US" sz="2000" dirty="0">
                <a:solidFill>
                  <a:schemeClr val="bg1"/>
                </a:solidFill>
                <a:latin typeface="Oswald SemiBold" panose="00000700000000000000" pitchFamily="2" charset="0"/>
              </a:rPr>
              <a:t>Operations on Doubly Linked List</a:t>
            </a:r>
            <a:endParaRPr lang="en-IN" sz="2000" dirty="0">
              <a:solidFill>
                <a:schemeClr val="bg1"/>
              </a:solidFill>
              <a:latin typeface="Oswald SemiBold" panose="00000700000000000000" pitchFamily="2" charset="0"/>
            </a:endParaRPr>
          </a:p>
        </p:txBody>
      </p:sp>
    </p:spTree>
    <p:extLst>
      <p:ext uri="{BB962C8B-B14F-4D97-AF65-F5344CB8AC3E}">
        <p14:creationId xmlns:p14="http://schemas.microsoft.com/office/powerpoint/2010/main" val="1084280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4000">
              <a:schemeClr val="accent5">
                <a:lumMod val="75000"/>
              </a:schemeClr>
            </a:gs>
            <a:gs pos="10000">
              <a:schemeClr val="accent1">
                <a:lumMod val="60000"/>
                <a:lumOff val="40000"/>
              </a:schemeClr>
            </a:gs>
          </a:gsLst>
          <a:path path="circle">
            <a:fillToRect l="100000" t="100000"/>
          </a:path>
          <a:tileRect r="-100000" b="-100000"/>
        </a:gradFill>
        <a:effectLst/>
      </p:bgPr>
    </p:bg>
    <p:spTree>
      <p:nvGrpSpPr>
        <p:cNvPr id="1" name="Shape 121">
          <a:extLst>
            <a:ext uri="{FF2B5EF4-FFF2-40B4-BE49-F238E27FC236}">
              <a16:creationId xmlns:a16="http://schemas.microsoft.com/office/drawing/2014/main" id="{4C392D82-82FE-C015-5EE7-5006B432A6F5}"/>
            </a:ext>
          </a:extLst>
        </p:cNvPr>
        <p:cNvGrpSpPr/>
        <p:nvPr/>
      </p:nvGrpSpPr>
      <p:grpSpPr>
        <a:xfrm>
          <a:off x="0" y="0"/>
          <a:ext cx="0" cy="0"/>
          <a:chOff x="0" y="0"/>
          <a:chExt cx="0" cy="0"/>
        </a:xfrm>
      </p:grpSpPr>
      <p:sp>
        <p:nvSpPr>
          <p:cNvPr id="10" name="Google Shape;58;p13">
            <a:extLst>
              <a:ext uri="{FF2B5EF4-FFF2-40B4-BE49-F238E27FC236}">
                <a16:creationId xmlns:a16="http://schemas.microsoft.com/office/drawing/2014/main" id="{903C1B10-9530-B301-AD86-4408A1C406AE}"/>
              </a:ext>
            </a:extLst>
          </p:cNvPr>
          <p:cNvSpPr/>
          <p:nvPr/>
        </p:nvSpPr>
        <p:spPr>
          <a:xfrm>
            <a:off x="3419700" y="21343"/>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9" name="Google Shape;58;p13">
            <a:extLst>
              <a:ext uri="{FF2B5EF4-FFF2-40B4-BE49-F238E27FC236}">
                <a16:creationId xmlns:a16="http://schemas.microsoft.com/office/drawing/2014/main" id="{37B0707B-2C05-F0BA-09CA-BB82851030A3}"/>
              </a:ext>
            </a:extLst>
          </p:cNvPr>
          <p:cNvSpPr/>
          <p:nvPr/>
        </p:nvSpPr>
        <p:spPr>
          <a:xfrm>
            <a:off x="1608720" y="0"/>
            <a:ext cx="5724300" cy="5143500"/>
          </a:xfrm>
          <a:prstGeom prst="ellipse">
            <a:avLst/>
          </a:prstGeom>
          <a:solidFill>
            <a:srgbClr val="1B6D87"/>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15" name="TextBox 14">
            <a:extLst>
              <a:ext uri="{FF2B5EF4-FFF2-40B4-BE49-F238E27FC236}">
                <a16:creationId xmlns:a16="http://schemas.microsoft.com/office/drawing/2014/main" id="{3F6FCC90-D8AD-4F4C-03A6-78727EEA9F61}"/>
              </a:ext>
            </a:extLst>
          </p:cNvPr>
          <p:cNvSpPr txBox="1"/>
          <p:nvPr/>
        </p:nvSpPr>
        <p:spPr>
          <a:xfrm>
            <a:off x="5931170" y="707078"/>
            <a:ext cx="64589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FFFFFF"/>
                </a:solidFill>
                <a:effectLst/>
                <a:uLnTx/>
                <a:uFillTx/>
                <a:latin typeface="Impact"/>
                <a:ea typeface="Impact"/>
                <a:cs typeface="Impact"/>
                <a:sym typeface="Impact"/>
              </a:rPr>
              <a:t>09</a:t>
            </a:r>
            <a:r>
              <a:rPr kumimoji="0" lang="en" sz="2000" b="1" i="0" u="none" strike="noStrike" kern="0" cap="none" spc="0" normalizeH="0" baseline="0" noProof="0" dirty="0">
                <a:ln>
                  <a:noFill/>
                </a:ln>
                <a:solidFill>
                  <a:srgbClr val="FFFFFF"/>
                </a:solidFill>
                <a:effectLst/>
                <a:uLnTx/>
                <a:uFillTx/>
                <a:latin typeface="Impact"/>
                <a:ea typeface="Impact"/>
                <a:cs typeface="Impact"/>
                <a:sym typeface="Impact"/>
              </a:rPr>
              <a:t>.</a:t>
            </a:r>
          </a:p>
        </p:txBody>
      </p:sp>
      <p:sp>
        <p:nvSpPr>
          <p:cNvPr id="5" name="TextBox 4">
            <a:extLst>
              <a:ext uri="{FF2B5EF4-FFF2-40B4-BE49-F238E27FC236}">
                <a16:creationId xmlns:a16="http://schemas.microsoft.com/office/drawing/2014/main" id="{EDEEF565-7053-76FB-13E5-BDD7D127C247}"/>
              </a:ext>
            </a:extLst>
          </p:cNvPr>
          <p:cNvSpPr txBox="1"/>
          <p:nvPr/>
        </p:nvSpPr>
        <p:spPr>
          <a:xfrm>
            <a:off x="7842403" y="720355"/>
            <a:ext cx="5904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10.</a:t>
            </a:r>
          </a:p>
        </p:txBody>
      </p:sp>
      <p:pic>
        <p:nvPicPr>
          <p:cNvPr id="1026" name="Picture 2" descr="Data Structures: Linked Lists. This post is the 2nd part of a series… | by  Mariam Jaludi | Medium">
            <a:extLst>
              <a:ext uri="{FF2B5EF4-FFF2-40B4-BE49-F238E27FC236}">
                <a16:creationId xmlns:a16="http://schemas.microsoft.com/office/drawing/2014/main" id="{8C015725-E480-F8D5-607E-B11920F57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1410" y="1440320"/>
            <a:ext cx="4400550" cy="2295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523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7000"/>
              </a:schemeClr>
            </a:gs>
            <a:gs pos="24000">
              <a:schemeClr val="accent5">
                <a:lumMod val="75000"/>
              </a:schemeClr>
            </a:gs>
            <a:gs pos="10000">
              <a:schemeClr val="accent1">
                <a:lumMod val="60000"/>
                <a:lumOff val="40000"/>
              </a:schemeClr>
            </a:gs>
          </a:gsLst>
          <a:path path="circle">
            <a:fillToRect l="100000" t="100000"/>
          </a:path>
          <a:tileRect r="-100000" b="-100000"/>
        </a:gradFill>
        <a:effectLst/>
      </p:bgPr>
    </p:bg>
    <p:spTree>
      <p:nvGrpSpPr>
        <p:cNvPr id="1" name="Shape 121">
          <a:extLst>
            <a:ext uri="{FF2B5EF4-FFF2-40B4-BE49-F238E27FC236}">
              <a16:creationId xmlns:a16="http://schemas.microsoft.com/office/drawing/2014/main" id="{A0484421-1DB1-F209-E7C6-380DAD1DD5F3}"/>
            </a:ext>
          </a:extLst>
        </p:cNvPr>
        <p:cNvGrpSpPr/>
        <p:nvPr/>
      </p:nvGrpSpPr>
      <p:grpSpPr>
        <a:xfrm>
          <a:off x="0" y="0"/>
          <a:ext cx="0" cy="0"/>
          <a:chOff x="0" y="0"/>
          <a:chExt cx="0" cy="0"/>
        </a:xfrm>
      </p:grpSpPr>
      <p:sp>
        <p:nvSpPr>
          <p:cNvPr id="10" name="Google Shape;58;p13">
            <a:extLst>
              <a:ext uri="{FF2B5EF4-FFF2-40B4-BE49-F238E27FC236}">
                <a16:creationId xmlns:a16="http://schemas.microsoft.com/office/drawing/2014/main" id="{EB998A7B-65E0-4210-8C0F-4C2590909BB2}"/>
              </a:ext>
            </a:extLst>
          </p:cNvPr>
          <p:cNvSpPr/>
          <p:nvPr/>
        </p:nvSpPr>
        <p:spPr>
          <a:xfrm>
            <a:off x="1709850" y="0"/>
            <a:ext cx="5724300" cy="5143500"/>
          </a:xfrm>
          <a:prstGeom prst="ellipse">
            <a:avLst/>
          </a:prstGeom>
          <a:solidFill>
            <a:srgbClr val="175D73"/>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dirty="0">
              <a:solidFill>
                <a:schemeClr val="accent1">
                  <a:lumMod val="50000"/>
                </a:schemeClr>
              </a:solidFill>
            </a:endParaRPr>
          </a:p>
        </p:txBody>
      </p:sp>
      <p:sp>
        <p:nvSpPr>
          <p:cNvPr id="5" name="TextBox 4">
            <a:extLst>
              <a:ext uri="{FF2B5EF4-FFF2-40B4-BE49-F238E27FC236}">
                <a16:creationId xmlns:a16="http://schemas.microsoft.com/office/drawing/2014/main" id="{04DEB494-A808-35E0-8411-FCBA4C5CB239}"/>
              </a:ext>
            </a:extLst>
          </p:cNvPr>
          <p:cNvSpPr txBox="1"/>
          <p:nvPr/>
        </p:nvSpPr>
        <p:spPr>
          <a:xfrm>
            <a:off x="6103793" y="980286"/>
            <a:ext cx="590400"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700" b="1" i="0" u="none" strike="noStrike" kern="0" cap="none" spc="0" normalizeH="0" baseline="0" noProof="0" dirty="0">
                <a:ln>
                  <a:noFill/>
                </a:ln>
                <a:solidFill>
                  <a:srgbClr val="FFFFFF"/>
                </a:solidFill>
                <a:effectLst/>
                <a:uLnTx/>
                <a:uFillTx/>
                <a:latin typeface="Impact"/>
                <a:ea typeface="Impact"/>
                <a:cs typeface="Impact"/>
                <a:sym typeface="Impact"/>
              </a:rPr>
              <a:t>10.</a:t>
            </a:r>
          </a:p>
        </p:txBody>
      </p:sp>
      <p:sp>
        <p:nvSpPr>
          <p:cNvPr id="3" name="TextBox 2">
            <a:extLst>
              <a:ext uri="{FF2B5EF4-FFF2-40B4-BE49-F238E27FC236}">
                <a16:creationId xmlns:a16="http://schemas.microsoft.com/office/drawing/2014/main" id="{95810323-6936-CE57-2DE6-CF93F2F55083}"/>
              </a:ext>
            </a:extLst>
          </p:cNvPr>
          <p:cNvSpPr txBox="1"/>
          <p:nvPr/>
        </p:nvSpPr>
        <p:spPr>
          <a:xfrm>
            <a:off x="2876843" y="1315329"/>
            <a:ext cx="3003451" cy="1938992"/>
          </a:xfrm>
          <a:prstGeom prst="rect">
            <a:avLst/>
          </a:prstGeom>
          <a:noFill/>
        </p:spPr>
        <p:txBody>
          <a:bodyPr wrap="square" rtlCol="0">
            <a:spAutoFit/>
          </a:bodyPr>
          <a:lstStyle/>
          <a:p>
            <a:r>
              <a:rPr lang="en-US" sz="6000" dirty="0">
                <a:solidFill>
                  <a:schemeClr val="bg1"/>
                </a:solidFill>
                <a:latin typeface="Oswald SemiBold" panose="00000700000000000000" pitchFamily="2" charset="0"/>
              </a:rPr>
              <a:t>THANK YOU</a:t>
            </a:r>
            <a:endParaRPr lang="en-IN" sz="6000" dirty="0">
              <a:solidFill>
                <a:schemeClr val="bg1"/>
              </a:solidFill>
              <a:latin typeface="Oswald SemiBold" panose="00000700000000000000" pitchFamily="2" charset="0"/>
            </a:endParaRPr>
          </a:p>
        </p:txBody>
      </p:sp>
    </p:spTree>
    <p:extLst>
      <p:ext uri="{BB962C8B-B14F-4D97-AF65-F5344CB8AC3E}">
        <p14:creationId xmlns:p14="http://schemas.microsoft.com/office/powerpoint/2010/main" val="3440503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371</Words>
  <Application>Microsoft Office PowerPoint</Application>
  <PresentationFormat>On-screen Show (16:9)</PresentationFormat>
  <Paragraphs>44</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rishab singh</cp:lastModifiedBy>
  <cp:revision>4</cp:revision>
  <dcterms:modified xsi:type="dcterms:W3CDTF">2026-02-19T09:13:37Z</dcterms:modified>
</cp:coreProperties>
</file>